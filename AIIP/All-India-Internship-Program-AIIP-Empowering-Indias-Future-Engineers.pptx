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4630400" cy="8229600"/>
  <p:notesSz cx="8229600" cy="14630400"/>
  <p:embeddedFontLst>
    <p:embeddedFont>
      <p:font typeface="Petrona"/>
      <p:regular r:id="rId16"/>
    </p:embeddedFont>
    <p:embeddedFont>
      <p:font typeface="Petrona"/>
      <p:regular r:id="rId17"/>
    </p:embeddedFont>
    <p:embeddedFont>
      <p:font typeface="Petrona"/>
      <p:regular r:id="rId18"/>
    </p:embeddedFont>
    <p:embeddedFont>
      <p:font typeface="Petrona"/>
      <p:regular r:id="rId19"/>
    </p:embeddedFont>
    <p:embeddedFont>
      <p:font typeface="Inter"/>
      <p:regular r:id="rId20"/>
    </p:embeddedFont>
    <p:embeddedFont>
      <p:font typeface="Inter"/>
      <p:regular r:id="rId21"/>
    </p:embeddedFont>
    <p:embeddedFont>
      <p:font typeface="Inter"/>
      <p:regular r:id="rId22"/>
    </p:embeddedFont>
    <p:embeddedFont>
      <p:font typeface="Inter"/>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 Id="rId20" Type="http://schemas.openxmlformats.org/officeDocument/2006/relationships/font" Target="fonts/font5.fntdata"/><Relationship Id="rId21" Type="http://schemas.openxmlformats.org/officeDocument/2006/relationships/font" Target="fonts/font6.fntdata"/><Relationship Id="rId22" Type="http://schemas.openxmlformats.org/officeDocument/2006/relationships/font" Target="fonts/font7.fntdata"/><Relationship Id="rId23"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6237C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0.xml"/><Relationship Id="rId7"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972800" y="0"/>
            <a:ext cx="3657600" cy="8229600"/>
          </a:xfrm>
          <a:prstGeom prst="rect">
            <a:avLst/>
          </a:prstGeom>
        </p:spPr>
      </p:pic>
      <p:sp>
        <p:nvSpPr>
          <p:cNvPr id="3" name="Text 0"/>
          <p:cNvSpPr/>
          <p:nvPr/>
        </p:nvSpPr>
        <p:spPr>
          <a:xfrm>
            <a:off x="793790" y="2489835"/>
            <a:ext cx="9357598" cy="1364456"/>
          </a:xfrm>
          <a:prstGeom prst="rect">
            <a:avLst/>
          </a:prstGeom>
          <a:noFill/>
          <a:ln/>
        </p:spPr>
        <p:txBody>
          <a:bodyPr wrap="square" lIns="0" tIns="0" rIns="0" bIns="0" rtlCol="0" anchor="t"/>
          <a:lstStyle/>
          <a:p>
            <a:pPr algn="l" indent="0" marL="0">
              <a:lnSpc>
                <a:spcPts val="5350"/>
              </a:lnSpc>
              <a:buNone/>
            </a:pPr>
            <a:r>
              <a:rPr lang="en-US" sz="4250" b="1" dirty="0">
                <a:solidFill>
                  <a:srgbClr val="FFFFFF"/>
                </a:solidFill>
                <a:latin typeface="Petrona Bold" pitchFamily="34" charset="0"/>
                <a:ea typeface="Petrona Bold" pitchFamily="34" charset="-122"/>
                <a:cs typeface="Petrona Bold" pitchFamily="34" charset="-120"/>
              </a:rPr>
              <a:t>All India Internship Program (AIIP): </a:t>
            </a:r>
            <a:pPr algn="l" indent="0" marL="0">
              <a:lnSpc>
                <a:spcPts val="5350"/>
              </a:lnSpc>
              <a:buNone/>
            </a:pPr>
            <a:r>
              <a:rPr lang="en-US" sz="4250" b="1" dirty="0">
                <a:solidFill>
                  <a:srgbClr val="FFFFFF"/>
                </a:solidFill>
                <a:latin typeface="Petrona Bold" pitchFamily="34" charset="0"/>
                <a:ea typeface="Petrona Bold" pitchFamily="34" charset="-122"/>
                <a:cs typeface="Petrona Bold" pitchFamily="34" charset="-120"/>
              </a:rPr>
              <a:t>Empowering India's Future Engineers</a:t>
            </a:r>
            <a:endParaRPr lang="en-US" sz="4250" dirty="0"/>
          </a:p>
        </p:txBody>
      </p:sp>
      <p:sp>
        <p:nvSpPr>
          <p:cNvPr id="4" name="Text 1"/>
          <p:cNvSpPr/>
          <p:nvPr/>
        </p:nvSpPr>
        <p:spPr>
          <a:xfrm>
            <a:off x="793790" y="4151947"/>
            <a:ext cx="9385221" cy="1587698"/>
          </a:xfrm>
          <a:prstGeom prst="rect">
            <a:avLst/>
          </a:prstGeom>
          <a:noFill/>
          <a:ln/>
        </p:spPr>
        <p:txBody>
          <a:bodyPr wrap="square" lIns="0" tIns="0" rIns="0" bIns="0" rtlCol="0" anchor="t"/>
          <a:lstStyle/>
          <a:p>
            <a:pPr algn="l" indent="0" marL="0">
              <a:lnSpc>
                <a:spcPts val="2500"/>
              </a:lnSpc>
              <a:buNone/>
            </a:pPr>
            <a:r>
              <a:rPr lang="en-US" sz="1550" b="1" dirty="0">
                <a:solidFill>
                  <a:srgbClr val="FFFFFF"/>
                </a:solidFill>
                <a:latin typeface="Inter" pitchFamily="34" charset="0"/>
                <a:ea typeface="Inter" pitchFamily="34" charset="-122"/>
                <a:cs typeface="Inter" pitchFamily="34" charset="-120"/>
              </a:rPr>
              <a:t>By:</a:t>
            </a:r>
            <a:pPr algn="l" indent="0" marL="0">
              <a:lnSpc>
                <a:spcPts val="2500"/>
              </a:lnSpc>
              <a:buNone/>
            </a:pPr>
            <a:r>
              <a:rPr lang="en-US" sz="1550" dirty="0">
                <a:solidFill>
                  <a:srgbClr val="FFFFFF"/>
                </a:solidFill>
                <a:latin typeface="Inter" pitchFamily="34" charset="0"/>
                <a:ea typeface="Inter" pitchFamily="34" charset="-122"/>
                <a:cs typeface="Inter" pitchFamily="34" charset="-120"/>
              </a:rPr>
              <a:t> Sangmeshwar Gurushete (PRN: 2230331246505)</a:t>
            </a:r>
            <a:pPr algn="l" indent="0" marL="0">
              <a:lnSpc>
                <a:spcPts val="2500"/>
              </a:lnSpc>
              <a:buNone/>
            </a:pPr>
            <a:r>
              <a:rPr lang="en-US" sz="1550" b="1" dirty="0">
                <a:solidFill>
                  <a:srgbClr val="FFFFFF"/>
                </a:solidFill>
                <a:latin typeface="Inter" pitchFamily="34" charset="0"/>
                <a:ea typeface="Inter" pitchFamily="34" charset="-122"/>
                <a:cs typeface="Inter" pitchFamily="34" charset="-120"/>
              </a:rPr>
              <a:t>Guide:</a:t>
            </a:r>
            <a:pPr algn="l" indent="0" marL="0">
              <a:lnSpc>
                <a:spcPts val="2500"/>
              </a:lnSpc>
              <a:buNone/>
            </a:pPr>
            <a:r>
              <a:rPr lang="en-US" sz="1550" dirty="0">
                <a:solidFill>
                  <a:srgbClr val="FFFFFF"/>
                </a:solidFill>
                <a:latin typeface="Inter" pitchFamily="34" charset="0"/>
                <a:ea typeface="Inter" pitchFamily="34" charset="-122"/>
                <a:cs typeface="Inter" pitchFamily="34" charset="-120"/>
              </a:rPr>
              <a:t> Dr. Vinod Kadam</a:t>
            </a:r>
            <a:pPr algn="l" indent="0" marL="0">
              <a:lnSpc>
                <a:spcPts val="2500"/>
              </a:lnSpc>
              <a:buNone/>
            </a:pPr>
            <a:r>
              <a:rPr lang="en-US" sz="1550" b="1" dirty="0">
                <a:solidFill>
                  <a:srgbClr val="FFFFFF"/>
                </a:solidFill>
                <a:latin typeface="Inter" pitchFamily="34" charset="0"/>
                <a:ea typeface="Inter" pitchFamily="34" charset="-122"/>
                <a:cs typeface="Inter" pitchFamily="34" charset="-120"/>
              </a:rPr>
              <a:t>Department of Information Technology</a:t>
            </a:r>
            <a:pPr algn="l" indent="0" marL="0">
              <a:lnSpc>
                <a:spcPts val="2500"/>
              </a:lnSpc>
              <a:buNone/>
            </a:pPr>
            <a:r>
              <a:rPr lang="en-US" sz="1550" b="1" dirty="0">
                <a:solidFill>
                  <a:srgbClr val="FFFFFF"/>
                </a:solidFill>
                <a:latin typeface="Inter" pitchFamily="34" charset="0"/>
                <a:ea typeface="Inter" pitchFamily="34" charset="-122"/>
                <a:cs typeface="Inter" pitchFamily="34" charset="-120"/>
              </a:rPr>
              <a:t>Dr. Babasaheb Ambedkar Technological University, Lonere</a:t>
            </a:r>
            <a:pPr algn="l" indent="0" marL="0">
              <a:lnSpc>
                <a:spcPts val="2500"/>
              </a:lnSpc>
              <a:buNone/>
            </a:pPr>
            <a:r>
              <a:rPr lang="en-US" sz="1550" dirty="0">
                <a:solidFill>
                  <a:srgbClr val="FFFFFF"/>
                </a:solidFill>
                <a:latin typeface="Inter" pitchFamily="34" charset="0"/>
                <a:ea typeface="Inter" pitchFamily="34" charset="-122"/>
                <a:cs typeface="Inter" pitchFamily="34" charset="-120"/>
              </a:rPr>
              <a:t>Academic Year 2024–2025</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83694"/>
            <a:ext cx="9781580"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Introduction &amp; The Problem Statement</a:t>
            </a:r>
            <a:endParaRPr lang="en-US" sz="4250" dirty="0"/>
          </a:p>
        </p:txBody>
      </p:sp>
      <p:sp>
        <p:nvSpPr>
          <p:cNvPr id="3" name="Text 1"/>
          <p:cNvSpPr/>
          <p:nvPr/>
        </p:nvSpPr>
        <p:spPr>
          <a:xfrm>
            <a:off x="793790" y="2062758"/>
            <a:ext cx="13042821" cy="1587698"/>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India's higher education system produces an astounding </a:t>
            </a:r>
            <a:pPr algn="l" indent="0" marL="0">
              <a:lnSpc>
                <a:spcPts val="2500"/>
              </a:lnSpc>
              <a:buNone/>
            </a:pPr>
            <a:r>
              <a:rPr lang="en-US" sz="1550" b="1" dirty="0">
                <a:solidFill>
                  <a:srgbClr val="272525"/>
                </a:solidFill>
                <a:latin typeface="Inter" pitchFamily="34" charset="0"/>
                <a:ea typeface="Inter" pitchFamily="34" charset="-122"/>
                <a:cs typeface="Inter" pitchFamily="34" charset="-120"/>
              </a:rPr>
              <a:t>1.5 million engineering graduates every year</a:t>
            </a:r>
            <a:pPr algn="l" indent="0" marL="0">
              <a:lnSpc>
                <a:spcPts val="2500"/>
              </a:lnSpc>
              <a:buNone/>
            </a:pPr>
            <a:r>
              <a:rPr lang="en-US" sz="1550" dirty="0">
                <a:solidFill>
                  <a:srgbClr val="272525"/>
                </a:solidFill>
                <a:latin typeface="Inter" pitchFamily="34" charset="0"/>
                <a:ea typeface="Inter" pitchFamily="34" charset="-122"/>
                <a:cs typeface="Inter" pitchFamily="34" charset="-120"/>
              </a:rPr>
              <a:t>, a testament to the nation's focus on technical prowess. However, a significant paradox exists within this impressive number. Despite the sheer volume, the </a:t>
            </a:r>
            <a:pPr algn="l" indent="0" marL="0">
              <a:lnSpc>
                <a:spcPts val="2500"/>
              </a:lnSpc>
              <a:buNone/>
            </a:pPr>
            <a:r>
              <a:rPr lang="en-US" sz="1550" b="1" dirty="0">
                <a:solidFill>
                  <a:srgbClr val="272525"/>
                </a:solidFill>
                <a:latin typeface="Inter" pitchFamily="34" charset="0"/>
                <a:ea typeface="Inter" pitchFamily="34" charset="-122"/>
                <a:cs typeface="Inter" pitchFamily="34" charset="-120"/>
              </a:rPr>
              <a:t>employability rate remains alarmingly low, with only 51.25% of graduates deemed employable</a:t>
            </a:r>
            <a:pPr algn="l" indent="0" marL="0">
              <a:lnSpc>
                <a:spcPts val="2500"/>
              </a:lnSpc>
              <a:buNone/>
            </a:pPr>
            <a:r>
              <a:rPr lang="en-US" sz="1550" dirty="0">
                <a:solidFill>
                  <a:srgbClr val="272525"/>
                </a:solidFill>
                <a:latin typeface="Inter" pitchFamily="34" charset="0"/>
                <a:ea typeface="Inter" pitchFamily="34" charset="-122"/>
                <a:cs typeface="Inter" pitchFamily="34" charset="-120"/>
              </a:rPr>
              <a:t>, according to the India Skills Report 2024. This stark reality is further exacerbated by the fact that </a:t>
            </a:r>
            <a:pPr algn="l" indent="0" marL="0">
              <a:lnSpc>
                <a:spcPts val="2500"/>
              </a:lnSpc>
              <a:buNone/>
            </a:pPr>
            <a:r>
              <a:rPr lang="en-US" sz="1550" b="1" dirty="0">
                <a:solidFill>
                  <a:srgbClr val="272525"/>
                </a:solidFill>
                <a:latin typeface="Inter" pitchFamily="34" charset="0"/>
                <a:ea typeface="Inter" pitchFamily="34" charset="-122"/>
                <a:cs typeface="Inter" pitchFamily="34" charset="-120"/>
              </a:rPr>
              <a:t>over 80% of these graduates lack practical exposure</a:t>
            </a:r>
            <a:pPr algn="l" indent="0" marL="0">
              <a:lnSpc>
                <a:spcPts val="2500"/>
              </a:lnSpc>
              <a:buNone/>
            </a:pPr>
            <a:r>
              <a:rPr lang="en-US" sz="1550" dirty="0">
                <a:solidFill>
                  <a:srgbClr val="272525"/>
                </a:solidFill>
                <a:latin typeface="Inter" pitchFamily="34" charset="0"/>
                <a:ea typeface="Inter" pitchFamily="34" charset="-122"/>
                <a:cs typeface="Inter" pitchFamily="34" charset="-120"/>
              </a:rPr>
              <a:t>, a critical insight from the Aspiring Minds Report 2023.</a:t>
            </a:r>
            <a:endParaRPr lang="en-US" sz="1550" dirty="0"/>
          </a:p>
        </p:txBody>
      </p:sp>
      <p:sp>
        <p:nvSpPr>
          <p:cNvPr id="4" name="Shape 2"/>
          <p:cNvSpPr/>
          <p:nvPr/>
        </p:nvSpPr>
        <p:spPr>
          <a:xfrm>
            <a:off x="793790" y="3873698"/>
            <a:ext cx="4215289" cy="2513886"/>
          </a:xfrm>
          <a:prstGeom prst="roundRect">
            <a:avLst>
              <a:gd name="adj" fmla="val 3316"/>
            </a:avLst>
          </a:prstGeom>
          <a:noFill/>
          <a:ln w="22860">
            <a:solidFill>
              <a:srgbClr val="C6BDDA"/>
            </a:solidFill>
            <a:prstDash val="solid"/>
          </a:ln>
        </p:spPr>
      </p:sp>
      <p:sp>
        <p:nvSpPr>
          <p:cNvPr id="5" name="Text 3"/>
          <p:cNvSpPr/>
          <p:nvPr/>
        </p:nvSpPr>
        <p:spPr>
          <a:xfrm>
            <a:off x="1015008" y="4094917"/>
            <a:ext cx="3380780"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Theoretical Education Bias</a:t>
            </a:r>
            <a:endParaRPr lang="en-US" sz="2100" dirty="0"/>
          </a:p>
        </p:txBody>
      </p:sp>
      <p:sp>
        <p:nvSpPr>
          <p:cNvPr id="6" name="Text 4"/>
          <p:cNvSpPr/>
          <p:nvPr/>
        </p:nvSpPr>
        <p:spPr>
          <a:xfrm>
            <a:off x="1015008" y="4555093"/>
            <a:ext cx="3772853" cy="127015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A predominant focus on theoretical knowledge often leaves graduates ill-equipped for the practical demands of the industry.</a:t>
            </a:r>
            <a:endParaRPr lang="en-US" sz="1550" dirty="0"/>
          </a:p>
        </p:txBody>
      </p:sp>
      <p:sp>
        <p:nvSpPr>
          <p:cNvPr id="7" name="Shape 5"/>
          <p:cNvSpPr/>
          <p:nvPr/>
        </p:nvSpPr>
        <p:spPr>
          <a:xfrm>
            <a:off x="5207437" y="3873698"/>
            <a:ext cx="4215408" cy="2513886"/>
          </a:xfrm>
          <a:prstGeom prst="roundRect">
            <a:avLst>
              <a:gd name="adj" fmla="val 3316"/>
            </a:avLst>
          </a:prstGeom>
          <a:noFill/>
          <a:ln w="22860">
            <a:solidFill>
              <a:srgbClr val="C6BDDA"/>
            </a:solidFill>
            <a:prstDash val="solid"/>
          </a:ln>
        </p:spPr>
      </p:sp>
      <p:sp>
        <p:nvSpPr>
          <p:cNvPr id="8" name="Text 6"/>
          <p:cNvSpPr/>
          <p:nvPr/>
        </p:nvSpPr>
        <p:spPr>
          <a:xfrm>
            <a:off x="5428655" y="4094917"/>
            <a:ext cx="3772972"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Limited Mentorship &amp; Structured Internships</a:t>
            </a:r>
            <a:endParaRPr lang="en-US" sz="2100" dirty="0"/>
          </a:p>
        </p:txBody>
      </p:sp>
      <p:sp>
        <p:nvSpPr>
          <p:cNvPr id="9" name="Text 7"/>
          <p:cNvSpPr/>
          <p:nvPr/>
        </p:nvSpPr>
        <p:spPr>
          <a:xfrm>
            <a:off x="5428655" y="4896207"/>
            <a:ext cx="3772972" cy="127015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The absence of structured internship programs and personalized mentorship deprives students of crucial real-world learning experiences.</a:t>
            </a:r>
            <a:endParaRPr lang="en-US" sz="1550" dirty="0"/>
          </a:p>
        </p:txBody>
      </p:sp>
      <p:sp>
        <p:nvSpPr>
          <p:cNvPr id="10" name="Shape 8"/>
          <p:cNvSpPr/>
          <p:nvPr/>
        </p:nvSpPr>
        <p:spPr>
          <a:xfrm>
            <a:off x="9621203" y="3873698"/>
            <a:ext cx="4215289" cy="2513886"/>
          </a:xfrm>
          <a:prstGeom prst="roundRect">
            <a:avLst>
              <a:gd name="adj" fmla="val 3316"/>
            </a:avLst>
          </a:prstGeom>
          <a:noFill/>
          <a:ln w="22860">
            <a:solidFill>
              <a:srgbClr val="C6BDDA"/>
            </a:solidFill>
            <a:prstDash val="solid"/>
          </a:ln>
        </p:spPr>
      </p:sp>
      <p:sp>
        <p:nvSpPr>
          <p:cNvPr id="11" name="Text 9"/>
          <p:cNvSpPr/>
          <p:nvPr/>
        </p:nvSpPr>
        <p:spPr>
          <a:xfrm>
            <a:off x="9842421" y="4094917"/>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Digital Divide</a:t>
            </a:r>
            <a:endParaRPr lang="en-US" sz="2100" dirty="0"/>
          </a:p>
        </p:txBody>
      </p:sp>
      <p:sp>
        <p:nvSpPr>
          <p:cNvPr id="12" name="Text 10"/>
          <p:cNvSpPr/>
          <p:nvPr/>
        </p:nvSpPr>
        <p:spPr>
          <a:xfrm>
            <a:off x="9842421" y="4555093"/>
            <a:ext cx="3772853" cy="127015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Students from rural and Tier-2/3 institutions face significant barriers to accessing quality internship opportunities due to the digital divide.</a:t>
            </a:r>
            <a:endParaRPr lang="en-US" sz="1550" dirty="0"/>
          </a:p>
        </p:txBody>
      </p:sp>
      <p:sp>
        <p:nvSpPr>
          <p:cNvPr id="13" name="Text 11"/>
          <p:cNvSpPr/>
          <p:nvPr/>
        </p:nvSpPr>
        <p:spPr>
          <a:xfrm>
            <a:off x="793790" y="6610826"/>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It is these core gaps that the </a:t>
            </a:r>
            <a:pPr algn="l" indent="0" marL="0">
              <a:lnSpc>
                <a:spcPts val="2500"/>
              </a:lnSpc>
              <a:buNone/>
            </a:pPr>
            <a:r>
              <a:rPr lang="en-US" sz="1550" b="1" dirty="0">
                <a:solidFill>
                  <a:srgbClr val="272525"/>
                </a:solidFill>
                <a:latin typeface="Inter" pitchFamily="34" charset="0"/>
                <a:ea typeface="Inter" pitchFamily="34" charset="-122"/>
                <a:cs typeface="Inter" pitchFamily="34" charset="-120"/>
              </a:rPr>
              <a:t>All India Internship Program (AIIP)</a:t>
            </a:r>
            <a:pPr algn="l" indent="0" marL="0">
              <a:lnSpc>
                <a:spcPts val="2500"/>
              </a:lnSpc>
              <a:buNone/>
            </a:pPr>
            <a:r>
              <a:rPr lang="en-US" sz="1550" dirty="0">
                <a:solidFill>
                  <a:srgbClr val="272525"/>
                </a:solidFill>
                <a:latin typeface="Inter" pitchFamily="34" charset="0"/>
                <a:ea typeface="Inter" pitchFamily="34" charset="-122"/>
                <a:cs typeface="Inter" pitchFamily="34" charset="-120"/>
              </a:rPr>
              <a:t> was meticulously designed to address, aiming to bridge the chasm between academic learning and industry demands.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03171"/>
            <a:ext cx="12479298" cy="614005"/>
          </a:xfrm>
          <a:prstGeom prst="rect">
            <a:avLst/>
          </a:prstGeom>
          <a:noFill/>
          <a:ln/>
        </p:spPr>
        <p:txBody>
          <a:bodyPr wrap="none" lIns="0" tIns="0" rIns="0" bIns="0" rtlCol="0" anchor="t"/>
          <a:lstStyle/>
          <a:p>
            <a:pPr algn="l" indent="0" marL="0">
              <a:lnSpc>
                <a:spcPts val="4800"/>
              </a:lnSpc>
              <a:buNone/>
            </a:pPr>
            <a:r>
              <a:rPr lang="en-US" sz="3850" b="1" dirty="0">
                <a:solidFill>
                  <a:srgbClr val="F95F88"/>
                </a:solidFill>
                <a:latin typeface="Petrona Bold" pitchFamily="34" charset="0"/>
                <a:ea typeface="Petrona Bold" pitchFamily="34" charset="-122"/>
                <a:cs typeface="Petrona Bold" pitchFamily="34" charset="-120"/>
              </a:rPr>
              <a:t>Objectives of AIIP: Bridging the Academia-Industry Gap</a:t>
            </a:r>
            <a:endParaRPr lang="en-US" sz="3850" dirty="0"/>
          </a:p>
        </p:txBody>
      </p:sp>
      <p:sp>
        <p:nvSpPr>
          <p:cNvPr id="3" name="Text 1"/>
          <p:cNvSpPr/>
          <p:nvPr/>
        </p:nvSpPr>
        <p:spPr>
          <a:xfrm>
            <a:off x="793790" y="1574363"/>
            <a:ext cx="13042821" cy="571500"/>
          </a:xfrm>
          <a:prstGeom prst="rect">
            <a:avLst/>
          </a:prstGeom>
          <a:noFill/>
          <a:ln/>
        </p:spPr>
        <p:txBody>
          <a:bodyPr wrap="squar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The </a:t>
            </a:r>
            <a:pPr algn="l" indent="0" marL="0">
              <a:lnSpc>
                <a:spcPts val="2250"/>
              </a:lnSpc>
              <a:buNone/>
            </a:pPr>
            <a:r>
              <a:rPr lang="en-US" sz="1400" b="1" dirty="0">
                <a:solidFill>
                  <a:srgbClr val="272525"/>
                </a:solidFill>
                <a:latin typeface="Inter" pitchFamily="34" charset="0"/>
                <a:ea typeface="Inter" pitchFamily="34" charset="-122"/>
                <a:cs typeface="Inter" pitchFamily="34" charset="-120"/>
              </a:rPr>
              <a:t>All India Internship Program (AIIP)</a:t>
            </a:r>
            <a:pPr algn="l" indent="0" marL="0">
              <a:lnSpc>
                <a:spcPts val="2250"/>
              </a:lnSpc>
              <a:buNone/>
            </a:pPr>
            <a:r>
              <a:rPr lang="en-US" sz="1400" dirty="0">
                <a:solidFill>
                  <a:srgbClr val="272525"/>
                </a:solidFill>
                <a:latin typeface="Inter" pitchFamily="34" charset="0"/>
                <a:ea typeface="Inter" pitchFamily="34" charset="-122"/>
                <a:cs typeface="Inter" pitchFamily="34" charset="-120"/>
              </a:rPr>
              <a:t> is built on a foundation of clear, actionable objectives, all geared towards a singular primary goal: to seamlessly bridge the existing gap between academic learning and industry demands for engineering students across India.</a:t>
            </a:r>
            <a:endParaRPr lang="en-US" sz="1400" dirty="0"/>
          </a:p>
        </p:txBody>
      </p:sp>
      <p:pic>
        <p:nvPicPr>
          <p:cNvPr id="4" name="Image 0" descr="preencoded.png">    </p:cNvPr>
          <p:cNvPicPr>
            <a:picLocks noChangeAspect="1"/>
          </p:cNvPicPr>
          <p:nvPr/>
        </p:nvPicPr>
        <p:blipFill>
          <a:blip r:embed="rId1"/>
          <a:stretch>
            <a:fillRect/>
          </a:stretch>
        </p:blipFill>
        <p:spPr>
          <a:xfrm>
            <a:off x="793790" y="2346722"/>
            <a:ext cx="535781" cy="535781"/>
          </a:xfrm>
          <a:prstGeom prst="rect">
            <a:avLst/>
          </a:prstGeom>
        </p:spPr>
      </p:pic>
      <p:sp>
        <p:nvSpPr>
          <p:cNvPr id="5" name="Text 2"/>
          <p:cNvSpPr/>
          <p:nvPr/>
        </p:nvSpPr>
        <p:spPr>
          <a:xfrm>
            <a:off x="793790" y="3105745"/>
            <a:ext cx="2472333" cy="306943"/>
          </a:xfrm>
          <a:prstGeom prst="rect">
            <a:avLst/>
          </a:prstGeom>
          <a:noFill/>
          <a:ln/>
        </p:spPr>
        <p:txBody>
          <a:bodyPr wrap="none" lIns="0" tIns="0" rIns="0" bIns="0" rtlCol="0" anchor="t"/>
          <a:lstStyle/>
          <a:p>
            <a:pPr algn="l" indent="0" marL="0">
              <a:lnSpc>
                <a:spcPts val="2400"/>
              </a:lnSpc>
              <a:buNone/>
            </a:pPr>
            <a:r>
              <a:rPr lang="en-US" sz="1900" b="1" dirty="0">
                <a:solidFill>
                  <a:srgbClr val="272525"/>
                </a:solidFill>
                <a:latin typeface="Petrona Bold" pitchFamily="34" charset="0"/>
                <a:ea typeface="Petrona Bold" pitchFamily="34" charset="-122"/>
                <a:cs typeface="Petrona Bold" pitchFamily="34" charset="-120"/>
              </a:rPr>
              <a:t>Real-time Internships</a:t>
            </a:r>
            <a:endParaRPr lang="en-US" sz="1900" dirty="0"/>
          </a:p>
        </p:txBody>
      </p:sp>
      <p:sp>
        <p:nvSpPr>
          <p:cNvPr id="6" name="Text 3"/>
          <p:cNvSpPr/>
          <p:nvPr/>
        </p:nvSpPr>
        <p:spPr>
          <a:xfrm>
            <a:off x="793790" y="3519845"/>
            <a:ext cx="6409730" cy="571500"/>
          </a:xfrm>
          <a:prstGeom prst="rect">
            <a:avLst/>
          </a:prstGeom>
          <a:noFill/>
          <a:ln/>
        </p:spPr>
        <p:txBody>
          <a:bodyPr wrap="squar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Providing students with hands-on, real-time internship experiences guided by experienced domain experts, fostering practical skill development.</a:t>
            </a:r>
            <a:endParaRPr lang="en-US" sz="1400" dirty="0"/>
          </a:p>
        </p:txBody>
      </p:sp>
      <p:pic>
        <p:nvPicPr>
          <p:cNvPr id="7" name="Image 1" descr="preencoded.png">    </p:cNvPr>
          <p:cNvPicPr>
            <a:picLocks noChangeAspect="1"/>
          </p:cNvPicPr>
          <p:nvPr/>
        </p:nvPicPr>
        <p:blipFill>
          <a:blip r:embed="rId2"/>
          <a:stretch>
            <a:fillRect/>
          </a:stretch>
        </p:blipFill>
        <p:spPr>
          <a:xfrm>
            <a:off x="7426762" y="2346722"/>
            <a:ext cx="535781" cy="535781"/>
          </a:xfrm>
          <a:prstGeom prst="rect">
            <a:avLst/>
          </a:prstGeom>
        </p:spPr>
      </p:pic>
      <p:sp>
        <p:nvSpPr>
          <p:cNvPr id="8" name="Text 4"/>
          <p:cNvSpPr/>
          <p:nvPr/>
        </p:nvSpPr>
        <p:spPr>
          <a:xfrm>
            <a:off x="7426762" y="3105745"/>
            <a:ext cx="2456021" cy="306943"/>
          </a:xfrm>
          <a:prstGeom prst="rect">
            <a:avLst/>
          </a:prstGeom>
          <a:noFill/>
          <a:ln/>
        </p:spPr>
        <p:txBody>
          <a:bodyPr wrap="none" lIns="0" tIns="0" rIns="0" bIns="0" rtlCol="0" anchor="t"/>
          <a:lstStyle/>
          <a:p>
            <a:pPr algn="l" indent="0" marL="0">
              <a:lnSpc>
                <a:spcPts val="2400"/>
              </a:lnSpc>
              <a:buNone/>
            </a:pPr>
            <a:r>
              <a:rPr lang="en-US" sz="1900" b="1" dirty="0">
                <a:solidFill>
                  <a:srgbClr val="272525"/>
                </a:solidFill>
                <a:latin typeface="Petrona Bold" pitchFamily="34" charset="0"/>
                <a:ea typeface="Petrona Bold" pitchFamily="34" charset="-122"/>
                <a:cs typeface="Petrona Bold" pitchFamily="34" charset="-120"/>
              </a:rPr>
              <a:t>Career Preparedness</a:t>
            </a:r>
            <a:endParaRPr lang="en-US" sz="1900" dirty="0"/>
          </a:p>
        </p:txBody>
      </p:sp>
      <p:sp>
        <p:nvSpPr>
          <p:cNvPr id="9" name="Text 5"/>
          <p:cNvSpPr/>
          <p:nvPr/>
        </p:nvSpPr>
        <p:spPr>
          <a:xfrm>
            <a:off x="7426762" y="3519845"/>
            <a:ext cx="6409849" cy="857250"/>
          </a:xfrm>
          <a:prstGeom prst="rect">
            <a:avLst/>
          </a:prstGeom>
          <a:noFill/>
          <a:ln/>
        </p:spPr>
        <p:txBody>
          <a:bodyPr wrap="squar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Equipping students with essential tools and resources for effective resume building and comprehensive interview preparation, enhancing their employability.</a:t>
            </a:r>
            <a:endParaRPr lang="en-US" sz="1400" dirty="0"/>
          </a:p>
        </p:txBody>
      </p:sp>
      <p:pic>
        <p:nvPicPr>
          <p:cNvPr id="10" name="Image 2" descr="preencoded.png">    </p:cNvPr>
          <p:cNvPicPr>
            <a:picLocks noChangeAspect="1"/>
          </p:cNvPicPr>
          <p:nvPr/>
        </p:nvPicPr>
        <p:blipFill>
          <a:blip r:embed="rId3"/>
          <a:stretch>
            <a:fillRect/>
          </a:stretch>
        </p:blipFill>
        <p:spPr>
          <a:xfrm>
            <a:off x="793790" y="4823579"/>
            <a:ext cx="535781" cy="535781"/>
          </a:xfrm>
          <a:prstGeom prst="rect">
            <a:avLst/>
          </a:prstGeom>
        </p:spPr>
      </p:pic>
      <p:sp>
        <p:nvSpPr>
          <p:cNvPr id="11" name="Text 6"/>
          <p:cNvSpPr/>
          <p:nvPr/>
        </p:nvSpPr>
        <p:spPr>
          <a:xfrm>
            <a:off x="793790" y="5582603"/>
            <a:ext cx="2456021" cy="306943"/>
          </a:xfrm>
          <a:prstGeom prst="rect">
            <a:avLst/>
          </a:prstGeom>
          <a:noFill/>
          <a:ln/>
        </p:spPr>
        <p:txBody>
          <a:bodyPr wrap="none" lIns="0" tIns="0" rIns="0" bIns="0" rtlCol="0" anchor="t"/>
          <a:lstStyle/>
          <a:p>
            <a:pPr algn="l" indent="0" marL="0">
              <a:lnSpc>
                <a:spcPts val="2400"/>
              </a:lnSpc>
              <a:buNone/>
            </a:pPr>
            <a:r>
              <a:rPr lang="en-US" sz="1900" b="1" dirty="0">
                <a:solidFill>
                  <a:srgbClr val="272525"/>
                </a:solidFill>
                <a:latin typeface="Petrona Bold" pitchFamily="34" charset="0"/>
                <a:ea typeface="Petrona Bold" pitchFamily="34" charset="-122"/>
                <a:cs typeface="Petrona Bold" pitchFamily="34" charset="-120"/>
              </a:rPr>
              <a:t>Inclusive Access</a:t>
            </a:r>
            <a:endParaRPr lang="en-US" sz="1900" dirty="0"/>
          </a:p>
        </p:txBody>
      </p:sp>
      <p:sp>
        <p:nvSpPr>
          <p:cNvPr id="12" name="Text 7"/>
          <p:cNvSpPr/>
          <p:nvPr/>
        </p:nvSpPr>
        <p:spPr>
          <a:xfrm>
            <a:off x="793790" y="5996702"/>
            <a:ext cx="6409730" cy="857250"/>
          </a:xfrm>
          <a:prstGeom prst="rect">
            <a:avLst/>
          </a:prstGeom>
          <a:noFill/>
          <a:ln/>
        </p:spPr>
        <p:txBody>
          <a:bodyPr wrap="squar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Ensuring equitable and inclusive access to quality internship opportunities for students residing in rural areas and attending Tier 2/3 educational institutions.</a:t>
            </a:r>
            <a:endParaRPr lang="en-US" sz="1400" dirty="0"/>
          </a:p>
        </p:txBody>
      </p:sp>
      <p:pic>
        <p:nvPicPr>
          <p:cNvPr id="13" name="Image 3" descr="preencoded.png">    </p:cNvPr>
          <p:cNvPicPr>
            <a:picLocks noChangeAspect="1"/>
          </p:cNvPicPr>
          <p:nvPr/>
        </p:nvPicPr>
        <p:blipFill>
          <a:blip r:embed="rId4"/>
          <a:stretch>
            <a:fillRect/>
          </a:stretch>
        </p:blipFill>
        <p:spPr>
          <a:xfrm>
            <a:off x="7426762" y="4823579"/>
            <a:ext cx="535781" cy="535781"/>
          </a:xfrm>
          <a:prstGeom prst="rect">
            <a:avLst/>
          </a:prstGeom>
        </p:spPr>
      </p:pic>
      <p:sp>
        <p:nvSpPr>
          <p:cNvPr id="14" name="Text 8"/>
          <p:cNvSpPr/>
          <p:nvPr/>
        </p:nvSpPr>
        <p:spPr>
          <a:xfrm>
            <a:off x="7426762" y="5582603"/>
            <a:ext cx="2456021" cy="306943"/>
          </a:xfrm>
          <a:prstGeom prst="rect">
            <a:avLst/>
          </a:prstGeom>
          <a:noFill/>
          <a:ln/>
        </p:spPr>
        <p:txBody>
          <a:bodyPr wrap="none" lIns="0" tIns="0" rIns="0" bIns="0" rtlCol="0" anchor="t"/>
          <a:lstStyle/>
          <a:p>
            <a:pPr algn="l" indent="0" marL="0">
              <a:lnSpc>
                <a:spcPts val="2400"/>
              </a:lnSpc>
              <a:buNone/>
            </a:pPr>
            <a:r>
              <a:rPr lang="en-US" sz="1900" b="1" dirty="0">
                <a:solidFill>
                  <a:srgbClr val="272525"/>
                </a:solidFill>
                <a:latin typeface="Petrona Bold" pitchFamily="34" charset="0"/>
                <a:ea typeface="Petrona Bold" pitchFamily="34" charset="-122"/>
                <a:cs typeface="Petrona Bold" pitchFamily="34" charset="-120"/>
              </a:rPr>
              <a:t>National Alignment</a:t>
            </a:r>
            <a:endParaRPr lang="en-US" sz="1900" dirty="0"/>
          </a:p>
        </p:txBody>
      </p:sp>
      <p:sp>
        <p:nvSpPr>
          <p:cNvPr id="15" name="Text 9"/>
          <p:cNvSpPr/>
          <p:nvPr/>
        </p:nvSpPr>
        <p:spPr>
          <a:xfrm>
            <a:off x="7426762" y="5996702"/>
            <a:ext cx="6409849" cy="857250"/>
          </a:xfrm>
          <a:prstGeom prst="rect">
            <a:avLst/>
          </a:prstGeom>
          <a:noFill/>
          <a:ln/>
        </p:spPr>
        <p:txBody>
          <a:bodyPr wrap="squar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Aligning the program's objectives with critical national missions such as </a:t>
            </a:r>
            <a:pPr algn="l" indent="0" marL="0">
              <a:lnSpc>
                <a:spcPts val="2250"/>
              </a:lnSpc>
              <a:buNone/>
            </a:pPr>
            <a:r>
              <a:rPr lang="en-US" sz="1400" b="1" dirty="0">
                <a:solidFill>
                  <a:srgbClr val="272525"/>
                </a:solidFill>
                <a:latin typeface="Inter" pitchFamily="34" charset="0"/>
                <a:ea typeface="Inter" pitchFamily="34" charset="-122"/>
                <a:cs typeface="Inter" pitchFamily="34" charset="-120"/>
              </a:rPr>
              <a:t>Skill India</a:t>
            </a:r>
            <a:pPr algn="l" indent="0" marL="0">
              <a:lnSpc>
                <a:spcPts val="2250"/>
              </a:lnSpc>
              <a:buNone/>
            </a:pPr>
            <a:r>
              <a:rPr lang="en-US" sz="1400" dirty="0">
                <a:solidFill>
                  <a:srgbClr val="272525"/>
                </a:solidFill>
                <a:latin typeface="Inter" pitchFamily="34" charset="0"/>
                <a:ea typeface="Inter" pitchFamily="34" charset="-122"/>
                <a:cs typeface="Inter" pitchFamily="34" charset="-120"/>
              </a:rPr>
              <a:t>, the </a:t>
            </a:r>
            <a:pPr algn="l" indent="0" marL="0">
              <a:lnSpc>
                <a:spcPts val="2250"/>
              </a:lnSpc>
              <a:buNone/>
            </a:pPr>
            <a:r>
              <a:rPr lang="en-US" sz="1400" b="1" dirty="0">
                <a:solidFill>
                  <a:srgbClr val="272525"/>
                </a:solidFill>
                <a:latin typeface="Inter" pitchFamily="34" charset="0"/>
                <a:ea typeface="Inter" pitchFamily="34" charset="-122"/>
                <a:cs typeface="Inter" pitchFamily="34" charset="-120"/>
              </a:rPr>
              <a:t>National Education Policy (NEP) 2020</a:t>
            </a:r>
            <a:pPr algn="l" indent="0" marL="0">
              <a:lnSpc>
                <a:spcPts val="2250"/>
              </a:lnSpc>
              <a:buNone/>
            </a:pPr>
            <a:r>
              <a:rPr lang="en-US" sz="1400" dirty="0">
                <a:solidFill>
                  <a:srgbClr val="272525"/>
                </a:solidFill>
                <a:latin typeface="Inter" pitchFamily="34" charset="0"/>
                <a:ea typeface="Inter" pitchFamily="34" charset="-122"/>
                <a:cs typeface="Inter" pitchFamily="34" charset="-120"/>
              </a:rPr>
              <a:t>, and </a:t>
            </a:r>
            <a:pPr algn="l" indent="0" marL="0">
              <a:lnSpc>
                <a:spcPts val="2250"/>
              </a:lnSpc>
              <a:buNone/>
            </a:pPr>
            <a:r>
              <a:rPr lang="en-US" sz="1400" b="1" dirty="0">
                <a:solidFill>
                  <a:srgbClr val="272525"/>
                </a:solidFill>
                <a:latin typeface="Inter" pitchFamily="34" charset="0"/>
                <a:ea typeface="Inter" pitchFamily="34" charset="-122"/>
                <a:cs typeface="Inter" pitchFamily="34" charset="-120"/>
              </a:rPr>
              <a:t>Digital India</a:t>
            </a:r>
            <a:pPr algn="l" indent="0" marL="0">
              <a:lnSpc>
                <a:spcPts val="2250"/>
              </a:lnSpc>
              <a:buNone/>
            </a:pPr>
            <a:r>
              <a:rPr lang="en-US" sz="1400" dirty="0">
                <a:solidFill>
                  <a:srgbClr val="272525"/>
                </a:solidFill>
                <a:latin typeface="Inter" pitchFamily="34" charset="0"/>
                <a:ea typeface="Inter" pitchFamily="34" charset="-122"/>
                <a:cs typeface="Inter" pitchFamily="34" charset="-120"/>
              </a:rPr>
              <a:t>, contributing to national development.</a:t>
            </a:r>
            <a:endParaRPr lang="en-US" sz="1400" dirty="0"/>
          </a:p>
        </p:txBody>
      </p:sp>
      <p:sp>
        <p:nvSpPr>
          <p:cNvPr id="16" name="Text 10"/>
          <p:cNvSpPr/>
          <p:nvPr/>
        </p:nvSpPr>
        <p:spPr>
          <a:xfrm>
            <a:off x="793790" y="7054810"/>
            <a:ext cx="13042821" cy="571500"/>
          </a:xfrm>
          <a:prstGeom prst="rect">
            <a:avLst/>
          </a:prstGeom>
          <a:noFill/>
          <a:ln/>
        </p:spPr>
        <p:txBody>
          <a:bodyPr wrap="squar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By focusing on these strategic objectives, AIIP aims to cultivate a new generation of engineers who are not only theoretically sound but also practically adept and ready to contribute meaningfully to the industry.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673060"/>
            <a:ext cx="11471434" cy="614005"/>
          </a:xfrm>
          <a:prstGeom prst="rect">
            <a:avLst/>
          </a:prstGeom>
          <a:noFill/>
          <a:ln/>
        </p:spPr>
        <p:txBody>
          <a:bodyPr wrap="none" lIns="0" tIns="0" rIns="0" bIns="0" rtlCol="0" anchor="t"/>
          <a:lstStyle/>
          <a:p>
            <a:pPr algn="l" indent="0" marL="0">
              <a:lnSpc>
                <a:spcPts val="4800"/>
              </a:lnSpc>
              <a:buNone/>
            </a:pPr>
            <a:r>
              <a:rPr lang="en-US" sz="3850" b="1" dirty="0">
                <a:solidFill>
                  <a:srgbClr val="F95F88"/>
                </a:solidFill>
                <a:latin typeface="Petrona Bold" pitchFamily="34" charset="0"/>
                <a:ea typeface="Petrona Bold" pitchFamily="34" charset="-122"/>
                <a:cs typeface="Petrona Bold" pitchFamily="34" charset="-120"/>
              </a:rPr>
              <a:t>Research-Backed Necessity and AIIP's Unique Edge</a:t>
            </a:r>
            <a:endParaRPr lang="en-US" sz="3850" dirty="0"/>
          </a:p>
        </p:txBody>
      </p:sp>
      <p:sp>
        <p:nvSpPr>
          <p:cNvPr id="3" name="Text 1"/>
          <p:cNvSpPr/>
          <p:nvPr/>
        </p:nvSpPr>
        <p:spPr>
          <a:xfrm>
            <a:off x="793790" y="1644253"/>
            <a:ext cx="13042821" cy="857250"/>
          </a:xfrm>
          <a:prstGeom prst="rect">
            <a:avLst/>
          </a:prstGeom>
          <a:noFill/>
          <a:ln/>
        </p:spPr>
        <p:txBody>
          <a:bodyPr wrap="squar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Extensive research underscores the critical need for initiatives like AIIP. The India Skills Report 2024 highlights a startling reality: </a:t>
            </a:r>
            <a:pPr algn="l" indent="0" marL="0">
              <a:lnSpc>
                <a:spcPts val="2250"/>
              </a:lnSpc>
              <a:buNone/>
            </a:pPr>
            <a:r>
              <a:rPr lang="en-US" sz="1400" b="1" dirty="0">
                <a:solidFill>
                  <a:srgbClr val="272525"/>
                </a:solidFill>
                <a:latin typeface="Inter" pitchFamily="34" charset="0"/>
                <a:ea typeface="Inter" pitchFamily="34" charset="-122"/>
                <a:cs typeface="Inter" pitchFamily="34" charset="-120"/>
              </a:rPr>
              <a:t>one in every two graduates is unemployable</a:t>
            </a:r>
            <a:pPr algn="l" indent="0" marL="0">
              <a:lnSpc>
                <a:spcPts val="2250"/>
              </a:lnSpc>
              <a:buNone/>
            </a:pPr>
            <a:r>
              <a:rPr lang="en-US" sz="1400" dirty="0">
                <a:solidFill>
                  <a:srgbClr val="272525"/>
                </a:solidFill>
                <a:latin typeface="Inter" pitchFamily="34" charset="0"/>
                <a:ea typeface="Inter" pitchFamily="34" charset="-122"/>
                <a:cs typeface="Inter" pitchFamily="34" charset="-120"/>
              </a:rPr>
              <a:t> primarily due to a significant skill mismatch. Furthermore, the Economic Survey 2023–24 reveals persistently high NEET (Not in Education, Employment, or Training) rates among the 20-24 age group, signaling a systemic challenge in integrating young talent into the workforce.</a:t>
            </a:r>
            <a:endParaRPr lang="en-US" sz="1400" dirty="0"/>
          </a:p>
        </p:txBody>
      </p:sp>
      <p:sp>
        <p:nvSpPr>
          <p:cNvPr id="4" name="Shape 2"/>
          <p:cNvSpPr/>
          <p:nvPr/>
        </p:nvSpPr>
        <p:spPr>
          <a:xfrm>
            <a:off x="793790" y="2702362"/>
            <a:ext cx="13042821" cy="1903095"/>
          </a:xfrm>
          <a:prstGeom prst="roundRect">
            <a:avLst>
              <a:gd name="adj" fmla="val 3942"/>
            </a:avLst>
          </a:prstGeom>
          <a:noFill/>
          <a:ln w="7620">
            <a:solidFill>
              <a:srgbClr val="000000">
                <a:alpha val="8000"/>
              </a:srgbClr>
            </a:solidFill>
            <a:prstDash val="solid"/>
          </a:ln>
        </p:spPr>
      </p:sp>
      <p:sp>
        <p:nvSpPr>
          <p:cNvPr id="5" name="Shape 3"/>
          <p:cNvSpPr/>
          <p:nvPr/>
        </p:nvSpPr>
        <p:spPr>
          <a:xfrm>
            <a:off x="801410" y="2709982"/>
            <a:ext cx="13027581" cy="801053"/>
          </a:xfrm>
          <a:prstGeom prst="rect">
            <a:avLst/>
          </a:prstGeom>
          <a:solidFill>
            <a:srgbClr val="FFFFFF">
              <a:alpha val="4000"/>
            </a:srgbClr>
          </a:solidFill>
          <a:ln/>
        </p:spPr>
      </p:sp>
      <p:sp>
        <p:nvSpPr>
          <p:cNvPr id="6" name="Text 4"/>
          <p:cNvSpPr/>
          <p:nvPr/>
        </p:nvSpPr>
        <p:spPr>
          <a:xfrm>
            <a:off x="980003" y="2824758"/>
            <a:ext cx="6152793" cy="285750"/>
          </a:xfrm>
          <a:prstGeom prst="rect">
            <a:avLst/>
          </a:prstGeom>
          <a:noFill/>
          <a:ln/>
        </p:spPr>
        <p:txBody>
          <a:bodyPr wrap="non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AICTE</a:t>
            </a:r>
            <a:endParaRPr lang="en-US" sz="1400" dirty="0"/>
          </a:p>
        </p:txBody>
      </p:sp>
      <p:sp>
        <p:nvSpPr>
          <p:cNvPr id="7" name="Text 5"/>
          <p:cNvSpPr/>
          <p:nvPr/>
        </p:nvSpPr>
        <p:spPr>
          <a:xfrm>
            <a:off x="7497604" y="2824758"/>
            <a:ext cx="6152793" cy="571500"/>
          </a:xfrm>
          <a:prstGeom prst="rect">
            <a:avLst/>
          </a:prstGeom>
          <a:noFill/>
          <a:ln/>
        </p:spPr>
        <p:txBody>
          <a:bodyPr wrap="squar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Mandate Internship but Lacks structured mentorship and project-specific feedback, leading to less effective learning outcomes.</a:t>
            </a:r>
            <a:endParaRPr lang="en-US" sz="1400" dirty="0"/>
          </a:p>
        </p:txBody>
      </p:sp>
      <p:sp>
        <p:nvSpPr>
          <p:cNvPr id="8" name="Shape 6"/>
          <p:cNvSpPr/>
          <p:nvPr/>
        </p:nvSpPr>
        <p:spPr>
          <a:xfrm>
            <a:off x="801410" y="3511034"/>
            <a:ext cx="13027581" cy="1086803"/>
          </a:xfrm>
          <a:prstGeom prst="rect">
            <a:avLst/>
          </a:prstGeom>
          <a:solidFill>
            <a:srgbClr val="000000">
              <a:alpha val="4000"/>
            </a:srgbClr>
          </a:solidFill>
          <a:ln/>
        </p:spPr>
      </p:sp>
      <p:sp>
        <p:nvSpPr>
          <p:cNvPr id="9" name="Text 7"/>
          <p:cNvSpPr/>
          <p:nvPr/>
        </p:nvSpPr>
        <p:spPr>
          <a:xfrm>
            <a:off x="980003" y="3625810"/>
            <a:ext cx="6152793" cy="285750"/>
          </a:xfrm>
          <a:prstGeom prst="rect">
            <a:avLst/>
          </a:prstGeom>
          <a:noFill/>
          <a:ln/>
        </p:spPr>
        <p:txBody>
          <a:bodyPr wrap="non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Internshala</a:t>
            </a:r>
            <a:endParaRPr lang="en-US" sz="1400" dirty="0"/>
          </a:p>
        </p:txBody>
      </p:sp>
      <p:sp>
        <p:nvSpPr>
          <p:cNvPr id="10" name="Text 8"/>
          <p:cNvSpPr/>
          <p:nvPr/>
        </p:nvSpPr>
        <p:spPr>
          <a:xfrm>
            <a:off x="7497604" y="3625810"/>
            <a:ext cx="6152793" cy="857250"/>
          </a:xfrm>
          <a:prstGeom prst="rect">
            <a:avLst/>
          </a:prstGeom>
          <a:noFill/>
          <a:ln/>
        </p:spPr>
        <p:txBody>
          <a:bodyPr wrap="squar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Highly competitive environment coupled with a lack of personalized support, making it challenging for all students, especially from less prominent institutions, to secure meaningful opportunities.</a:t>
            </a:r>
            <a:endParaRPr lang="en-US" sz="1400" dirty="0"/>
          </a:p>
        </p:txBody>
      </p:sp>
      <p:sp>
        <p:nvSpPr>
          <p:cNvPr id="11" name="Text 9"/>
          <p:cNvSpPr/>
          <p:nvPr/>
        </p:nvSpPr>
        <p:spPr>
          <a:xfrm>
            <a:off x="793790" y="4806315"/>
            <a:ext cx="13042821" cy="571500"/>
          </a:xfrm>
          <a:prstGeom prst="rect">
            <a:avLst/>
          </a:prstGeom>
          <a:noFill/>
          <a:ln/>
        </p:spPr>
        <p:txBody>
          <a:bodyPr wrap="squar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Recognizing these systemic shortcomings, AIIP was conceptualized to offer a superior, more student-centric alternative. Our platform distinguishes itself by providing:</a:t>
            </a:r>
            <a:endParaRPr lang="en-US" sz="1400" dirty="0"/>
          </a:p>
        </p:txBody>
      </p:sp>
      <p:sp>
        <p:nvSpPr>
          <p:cNvPr id="12" name="Text 10"/>
          <p:cNvSpPr/>
          <p:nvPr/>
        </p:nvSpPr>
        <p:spPr>
          <a:xfrm>
            <a:off x="793790" y="5578673"/>
            <a:ext cx="13042821" cy="571500"/>
          </a:xfrm>
          <a:prstGeom prst="rect">
            <a:avLst/>
          </a:prstGeom>
          <a:noFill/>
          <a:ln/>
        </p:spPr>
        <p:txBody>
          <a:bodyPr wrap="square" lIns="0" tIns="0" rIns="0" bIns="0" rtlCol="0" anchor="t"/>
          <a:lstStyle/>
          <a:p>
            <a:pPr algn="l" marL="342900" indent="-342900">
              <a:lnSpc>
                <a:spcPts val="2250"/>
              </a:lnSpc>
              <a:buSzPct val="100000"/>
              <a:buChar char="•"/>
            </a:pPr>
            <a:r>
              <a:rPr lang="en-US" sz="1400" b="1" dirty="0">
                <a:solidFill>
                  <a:srgbClr val="272525"/>
                </a:solidFill>
                <a:latin typeface="Inter" pitchFamily="34" charset="0"/>
                <a:ea typeface="Inter" pitchFamily="34" charset="-122"/>
                <a:cs typeface="Inter" pitchFamily="34" charset="-120"/>
              </a:rPr>
              <a:t>Mentor-led Internships:</a:t>
            </a:r>
            <a:pPr algn="l" indent="0" marL="0">
              <a:lnSpc>
                <a:spcPts val="2250"/>
              </a:lnSpc>
              <a:buNone/>
            </a:pPr>
            <a:r>
              <a:rPr lang="en-US" sz="1400" dirty="0">
                <a:solidFill>
                  <a:srgbClr val="272525"/>
                </a:solidFill>
                <a:latin typeface="Inter" pitchFamily="34" charset="0"/>
                <a:ea typeface="Inter" pitchFamily="34" charset="-122"/>
                <a:cs typeface="Inter" pitchFamily="34" charset="-120"/>
              </a:rPr>
              <a:t> Every internship is meticulously designed to include dedicated mentor guidance, ensuring students receive personalized attention and constructive feedback throughout their projects.</a:t>
            </a:r>
            <a:endParaRPr lang="en-US" sz="1400" dirty="0"/>
          </a:p>
        </p:txBody>
      </p:sp>
      <p:sp>
        <p:nvSpPr>
          <p:cNvPr id="13" name="Text 11"/>
          <p:cNvSpPr/>
          <p:nvPr/>
        </p:nvSpPr>
        <p:spPr>
          <a:xfrm>
            <a:off x="793790" y="6212681"/>
            <a:ext cx="13042821" cy="571500"/>
          </a:xfrm>
          <a:prstGeom prst="rect">
            <a:avLst/>
          </a:prstGeom>
          <a:noFill/>
          <a:ln/>
        </p:spPr>
        <p:txBody>
          <a:bodyPr wrap="square" lIns="0" tIns="0" rIns="0" bIns="0" rtlCol="0" anchor="t"/>
          <a:lstStyle/>
          <a:p>
            <a:pPr algn="l" marL="342900" indent="-342900">
              <a:lnSpc>
                <a:spcPts val="2250"/>
              </a:lnSpc>
              <a:buSzPct val="100000"/>
              <a:buChar char="•"/>
            </a:pPr>
            <a:r>
              <a:rPr lang="en-US" sz="1400" b="1" dirty="0">
                <a:solidFill>
                  <a:srgbClr val="272525"/>
                </a:solidFill>
                <a:latin typeface="Inter" pitchFamily="34" charset="0"/>
                <a:ea typeface="Inter" pitchFamily="34" charset="-122"/>
                <a:cs typeface="Inter" pitchFamily="34" charset="-120"/>
              </a:rPr>
              <a:t>Skill-based Assessments:</a:t>
            </a:r>
            <a:pPr algn="l" indent="0" marL="0">
              <a:lnSpc>
                <a:spcPts val="2250"/>
              </a:lnSpc>
              <a:buNone/>
            </a:pPr>
            <a:r>
              <a:rPr lang="en-US" sz="1400" dirty="0">
                <a:solidFill>
                  <a:srgbClr val="272525"/>
                </a:solidFill>
                <a:latin typeface="Inter" pitchFamily="34" charset="0"/>
                <a:ea typeface="Inter" pitchFamily="34" charset="-122"/>
                <a:cs typeface="Inter" pitchFamily="34" charset="-120"/>
              </a:rPr>
              <a:t> Integrated assessments evaluate practical skills acquired, providing verifiable proof of competency that is highly valued by employers.</a:t>
            </a:r>
            <a:endParaRPr lang="en-US" sz="1400" dirty="0"/>
          </a:p>
        </p:txBody>
      </p:sp>
      <p:sp>
        <p:nvSpPr>
          <p:cNvPr id="14" name="Text 12"/>
          <p:cNvSpPr/>
          <p:nvPr/>
        </p:nvSpPr>
        <p:spPr>
          <a:xfrm>
            <a:off x="793790" y="6985040"/>
            <a:ext cx="13042821" cy="571500"/>
          </a:xfrm>
          <a:prstGeom prst="rect">
            <a:avLst/>
          </a:prstGeom>
          <a:noFill/>
          <a:ln/>
        </p:spPr>
        <p:txBody>
          <a:bodyPr wrap="squar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The efficacy of AIIP's approach is already evident, with </a:t>
            </a:r>
            <a:pPr algn="l" indent="0" marL="0">
              <a:lnSpc>
                <a:spcPts val="2250"/>
              </a:lnSpc>
              <a:buNone/>
            </a:pPr>
            <a:r>
              <a:rPr lang="en-US" sz="1400" b="1" dirty="0">
                <a:solidFill>
                  <a:srgbClr val="272525"/>
                </a:solidFill>
                <a:latin typeface="Inter" pitchFamily="34" charset="0"/>
                <a:ea typeface="Inter" pitchFamily="34" charset="-122"/>
                <a:cs typeface="Inter" pitchFamily="34" charset="-120"/>
              </a:rPr>
              <a:t>over 8,500 students already enrolled</a:t>
            </a:r>
            <a:pPr algn="l" indent="0" marL="0">
              <a:lnSpc>
                <a:spcPts val="2250"/>
              </a:lnSpc>
              <a:buNone/>
            </a:pPr>
            <a:r>
              <a:rPr lang="en-US" sz="1400" dirty="0">
                <a:solidFill>
                  <a:srgbClr val="272525"/>
                </a:solidFill>
                <a:latin typeface="Inter" pitchFamily="34" charset="0"/>
                <a:ea typeface="Inter" pitchFamily="34" charset="-122"/>
                <a:cs typeface="Inter" pitchFamily="34" charset="-120"/>
              </a:rPr>
              <a:t> and actively participating in the program, marking a significant step towards a more skilled and employable engineering workforce in India.</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83669" y="540306"/>
            <a:ext cx="13063061" cy="1144905"/>
          </a:xfrm>
          <a:prstGeom prst="rect">
            <a:avLst/>
          </a:prstGeom>
          <a:noFill/>
          <a:ln/>
        </p:spPr>
        <p:txBody>
          <a:bodyPr wrap="square" lIns="0" tIns="0" rIns="0" bIns="0" rtlCol="0" anchor="t"/>
          <a:lstStyle/>
          <a:p>
            <a:pPr algn="l" indent="0" marL="0">
              <a:lnSpc>
                <a:spcPts val="4500"/>
              </a:lnSpc>
              <a:buNone/>
            </a:pPr>
            <a:r>
              <a:rPr lang="en-US" sz="3600" b="1" dirty="0">
                <a:solidFill>
                  <a:srgbClr val="F95F88"/>
                </a:solidFill>
                <a:latin typeface="Petrona Bold" pitchFamily="34" charset="0"/>
                <a:ea typeface="Petrona Bold" pitchFamily="34" charset="-122"/>
                <a:cs typeface="Petrona Bold" pitchFamily="34" charset="-120"/>
              </a:rPr>
              <a:t>Platform Architecture, Features, &amp; Robust Security Framework</a:t>
            </a:r>
            <a:endParaRPr lang="en-US" sz="3600" dirty="0"/>
          </a:p>
        </p:txBody>
      </p:sp>
      <p:sp>
        <p:nvSpPr>
          <p:cNvPr id="3" name="Text 1"/>
          <p:cNvSpPr/>
          <p:nvPr/>
        </p:nvSpPr>
        <p:spPr>
          <a:xfrm>
            <a:off x="783669" y="2018228"/>
            <a:ext cx="13063061" cy="532924"/>
          </a:xfrm>
          <a:prstGeom prst="rect">
            <a:avLst/>
          </a:prstGeom>
          <a:noFill/>
          <a:ln/>
        </p:spPr>
        <p:txBody>
          <a:bodyPr wrap="square" lIns="0" tIns="0" rIns="0" bIns="0" rtlCol="0" anchor="t"/>
          <a:lstStyle/>
          <a:p>
            <a:pPr algn="l" indent="0" marL="0">
              <a:lnSpc>
                <a:spcPts val="2050"/>
              </a:lnSpc>
              <a:buNone/>
            </a:pPr>
            <a:r>
              <a:rPr lang="en-US" sz="1300" dirty="0">
                <a:solidFill>
                  <a:srgbClr val="272525"/>
                </a:solidFill>
                <a:latin typeface="Inter" pitchFamily="34" charset="0"/>
                <a:ea typeface="Inter" pitchFamily="34" charset="-122"/>
                <a:cs typeface="Inter" pitchFamily="34" charset="-120"/>
              </a:rPr>
              <a:t>The All India Internship Program (AIIP) is built on a modern, scalable technology stack designed for efficiency, reliability, and user-friendliness. Our core architecture leverages:</a:t>
            </a:r>
            <a:endParaRPr lang="en-US" sz="1300" dirty="0"/>
          </a:p>
        </p:txBody>
      </p:sp>
      <p:sp>
        <p:nvSpPr>
          <p:cNvPr id="4" name="Text 2"/>
          <p:cNvSpPr/>
          <p:nvPr/>
        </p:nvSpPr>
        <p:spPr>
          <a:xfrm>
            <a:off x="783669" y="2738437"/>
            <a:ext cx="13063061" cy="532924"/>
          </a:xfrm>
          <a:prstGeom prst="rect">
            <a:avLst/>
          </a:prstGeom>
          <a:noFill/>
          <a:ln/>
        </p:spPr>
        <p:txBody>
          <a:bodyPr wrap="square" lIns="0" tIns="0" rIns="0" bIns="0" rtlCol="0" anchor="t"/>
          <a:lstStyle/>
          <a:p>
            <a:pPr algn="l" marL="342900" indent="-342900">
              <a:lnSpc>
                <a:spcPts val="2050"/>
              </a:lnSpc>
              <a:buSzPct val="100000"/>
              <a:buChar char="•"/>
            </a:pPr>
            <a:r>
              <a:rPr lang="en-US" sz="1300" b="1" dirty="0">
                <a:solidFill>
                  <a:srgbClr val="272525"/>
                </a:solidFill>
                <a:latin typeface="Inter" pitchFamily="34" charset="0"/>
                <a:ea typeface="Inter" pitchFamily="34" charset="-122"/>
                <a:cs typeface="Inter" pitchFamily="34" charset="-120"/>
              </a:rPr>
              <a:t>Backend:</a:t>
            </a:r>
            <a:pPr algn="l" indent="0" marL="0">
              <a:lnSpc>
                <a:spcPts val="2050"/>
              </a:lnSpc>
              <a:buNone/>
            </a:pPr>
            <a:r>
              <a:rPr lang="en-US" sz="1300" dirty="0">
                <a:solidFill>
                  <a:srgbClr val="272525"/>
                </a:solidFill>
                <a:latin typeface="Inter" pitchFamily="34" charset="0"/>
                <a:ea typeface="Inter" pitchFamily="34" charset="-122"/>
                <a:cs typeface="Inter" pitchFamily="34" charset="-120"/>
              </a:rPr>
              <a:t> </a:t>
            </a:r>
            <a:pPr algn="l" indent="0" marL="0">
              <a:lnSpc>
                <a:spcPts val="2050"/>
              </a:lnSpc>
              <a:buNone/>
            </a:pPr>
            <a:r>
              <a:rPr lang="en-US" sz="1300" b="1" dirty="0">
                <a:solidFill>
                  <a:srgbClr val="272525"/>
                </a:solidFill>
                <a:latin typeface="Inter" pitchFamily="34" charset="0"/>
                <a:ea typeface="Inter" pitchFamily="34" charset="-122"/>
                <a:cs typeface="Inter" pitchFamily="34" charset="-120"/>
              </a:rPr>
              <a:t>Laravel (PHP)</a:t>
            </a:r>
            <a:pPr algn="l" indent="0" marL="0">
              <a:lnSpc>
                <a:spcPts val="2050"/>
              </a:lnSpc>
              <a:buNone/>
            </a:pPr>
            <a:r>
              <a:rPr lang="en-US" sz="1300" dirty="0">
                <a:solidFill>
                  <a:srgbClr val="272525"/>
                </a:solidFill>
                <a:latin typeface="Inter" pitchFamily="34" charset="0"/>
                <a:ea typeface="Inter" pitchFamily="34" charset="-122"/>
                <a:cs typeface="Inter" pitchFamily="34" charset="-120"/>
              </a:rPr>
              <a:t>, a robust and elegant framework known for its powerful features and strong community support, ensuring rapid development and maintainable code.</a:t>
            </a:r>
            <a:endParaRPr lang="en-US" sz="1300" dirty="0"/>
          </a:p>
        </p:txBody>
      </p:sp>
      <p:sp>
        <p:nvSpPr>
          <p:cNvPr id="5" name="Text 3"/>
          <p:cNvSpPr/>
          <p:nvPr/>
        </p:nvSpPr>
        <p:spPr>
          <a:xfrm>
            <a:off x="783669" y="3329583"/>
            <a:ext cx="13063061" cy="266462"/>
          </a:xfrm>
          <a:prstGeom prst="rect">
            <a:avLst/>
          </a:prstGeom>
          <a:noFill/>
          <a:ln/>
        </p:spPr>
        <p:txBody>
          <a:bodyPr wrap="none" lIns="0" tIns="0" rIns="0" bIns="0" rtlCol="0" anchor="t"/>
          <a:lstStyle/>
          <a:p>
            <a:pPr algn="l" marL="342900" indent="-342900">
              <a:lnSpc>
                <a:spcPts val="2050"/>
              </a:lnSpc>
              <a:buSzPct val="100000"/>
              <a:buChar char="•"/>
            </a:pPr>
            <a:r>
              <a:rPr lang="en-US" sz="1300" b="1" dirty="0">
                <a:solidFill>
                  <a:srgbClr val="272525"/>
                </a:solidFill>
                <a:latin typeface="Inter" pitchFamily="34" charset="0"/>
                <a:ea typeface="Inter" pitchFamily="34" charset="-122"/>
                <a:cs typeface="Inter" pitchFamily="34" charset="-120"/>
              </a:rPr>
              <a:t>Database:</a:t>
            </a:r>
            <a:pPr algn="l" indent="0" marL="0">
              <a:lnSpc>
                <a:spcPts val="2050"/>
              </a:lnSpc>
              <a:buNone/>
            </a:pPr>
            <a:r>
              <a:rPr lang="en-US" sz="1300" dirty="0">
                <a:solidFill>
                  <a:srgbClr val="272525"/>
                </a:solidFill>
                <a:latin typeface="Inter" pitchFamily="34" charset="0"/>
                <a:ea typeface="Inter" pitchFamily="34" charset="-122"/>
                <a:cs typeface="Inter" pitchFamily="34" charset="-120"/>
              </a:rPr>
              <a:t> </a:t>
            </a:r>
            <a:pPr algn="l" indent="0" marL="0">
              <a:lnSpc>
                <a:spcPts val="2050"/>
              </a:lnSpc>
              <a:buNone/>
            </a:pPr>
            <a:r>
              <a:rPr lang="en-US" sz="1300" b="1" dirty="0">
                <a:solidFill>
                  <a:srgbClr val="272525"/>
                </a:solidFill>
                <a:latin typeface="Inter" pitchFamily="34" charset="0"/>
                <a:ea typeface="Inter" pitchFamily="34" charset="-122"/>
                <a:cs typeface="Inter" pitchFamily="34" charset="-120"/>
              </a:rPr>
              <a:t>MySQL</a:t>
            </a:r>
            <a:pPr algn="l" indent="0" marL="0">
              <a:lnSpc>
                <a:spcPts val="2050"/>
              </a:lnSpc>
              <a:buNone/>
            </a:pPr>
            <a:r>
              <a:rPr lang="en-US" sz="1300" dirty="0">
                <a:solidFill>
                  <a:srgbClr val="272525"/>
                </a:solidFill>
                <a:latin typeface="Inter" pitchFamily="34" charset="0"/>
                <a:ea typeface="Inter" pitchFamily="34" charset="-122"/>
                <a:cs typeface="Inter" pitchFamily="34" charset="-120"/>
              </a:rPr>
              <a:t>, a widely used relational database management system, providing secure and efficient data storage and retrieval.</a:t>
            </a:r>
            <a:endParaRPr lang="en-US" sz="1300" dirty="0"/>
          </a:p>
        </p:txBody>
      </p:sp>
      <p:sp>
        <p:nvSpPr>
          <p:cNvPr id="6" name="Text 4"/>
          <p:cNvSpPr/>
          <p:nvPr/>
        </p:nvSpPr>
        <p:spPr>
          <a:xfrm>
            <a:off x="783669" y="3654266"/>
            <a:ext cx="13063061" cy="266462"/>
          </a:xfrm>
          <a:prstGeom prst="rect">
            <a:avLst/>
          </a:prstGeom>
          <a:noFill/>
          <a:ln/>
        </p:spPr>
        <p:txBody>
          <a:bodyPr wrap="none" lIns="0" tIns="0" rIns="0" bIns="0" rtlCol="0" anchor="t"/>
          <a:lstStyle/>
          <a:p>
            <a:pPr algn="l" marL="342900" indent="-342900">
              <a:lnSpc>
                <a:spcPts val="2050"/>
              </a:lnSpc>
              <a:buSzPct val="100000"/>
              <a:buChar char="•"/>
            </a:pPr>
            <a:r>
              <a:rPr lang="en-US" sz="1300" b="1" dirty="0">
                <a:solidFill>
                  <a:srgbClr val="272525"/>
                </a:solidFill>
                <a:latin typeface="Inter" pitchFamily="34" charset="0"/>
                <a:ea typeface="Inter" pitchFamily="34" charset="-122"/>
                <a:cs typeface="Inter" pitchFamily="34" charset="-120"/>
              </a:rPr>
              <a:t>Frontend:</a:t>
            </a:r>
            <a:pPr algn="l" indent="0" marL="0">
              <a:lnSpc>
                <a:spcPts val="2050"/>
              </a:lnSpc>
              <a:buNone/>
            </a:pPr>
            <a:r>
              <a:rPr lang="en-US" sz="1300" dirty="0">
                <a:solidFill>
                  <a:srgbClr val="272525"/>
                </a:solidFill>
                <a:latin typeface="Inter" pitchFamily="34" charset="0"/>
                <a:ea typeface="Inter" pitchFamily="34" charset="-122"/>
                <a:cs typeface="Inter" pitchFamily="34" charset="-120"/>
              </a:rPr>
              <a:t> </a:t>
            </a:r>
            <a:pPr algn="l" indent="0" marL="0">
              <a:lnSpc>
                <a:spcPts val="2050"/>
              </a:lnSpc>
              <a:buNone/>
            </a:pPr>
            <a:r>
              <a:rPr lang="en-US" sz="1300" b="1" dirty="0">
                <a:solidFill>
                  <a:srgbClr val="272525"/>
                </a:solidFill>
                <a:latin typeface="Inter" pitchFamily="34" charset="0"/>
                <a:ea typeface="Inter" pitchFamily="34" charset="-122"/>
                <a:cs typeface="Inter" pitchFamily="34" charset="-120"/>
              </a:rPr>
              <a:t>HTML5, CSS3, and JavaScript</a:t>
            </a:r>
            <a:pPr algn="l" indent="0" marL="0">
              <a:lnSpc>
                <a:spcPts val="2050"/>
              </a:lnSpc>
              <a:buNone/>
            </a:pPr>
            <a:r>
              <a:rPr lang="en-US" sz="1300" dirty="0">
                <a:solidFill>
                  <a:srgbClr val="272525"/>
                </a:solidFill>
                <a:latin typeface="Inter" pitchFamily="34" charset="0"/>
                <a:ea typeface="Inter" pitchFamily="34" charset="-122"/>
                <a:cs typeface="Inter" pitchFamily="34" charset="-120"/>
              </a:rPr>
              <a:t>, enabling a responsive, dynamic, and intuitive user interface across various devices.</a:t>
            </a:r>
            <a:endParaRPr lang="en-US" sz="1300" dirty="0"/>
          </a:p>
        </p:txBody>
      </p:sp>
      <p:sp>
        <p:nvSpPr>
          <p:cNvPr id="7" name="Text 5"/>
          <p:cNvSpPr/>
          <p:nvPr/>
        </p:nvSpPr>
        <p:spPr>
          <a:xfrm>
            <a:off x="783669" y="4170521"/>
            <a:ext cx="5376863" cy="343495"/>
          </a:xfrm>
          <a:prstGeom prst="rect">
            <a:avLst/>
          </a:prstGeom>
          <a:noFill/>
          <a:ln/>
        </p:spPr>
        <p:txBody>
          <a:bodyPr wrap="none" lIns="0" tIns="0" rIns="0" bIns="0" rtlCol="0" anchor="t"/>
          <a:lstStyle/>
          <a:p>
            <a:pPr algn="l" indent="0" marL="0">
              <a:lnSpc>
                <a:spcPts val="2700"/>
              </a:lnSpc>
              <a:buNone/>
            </a:pPr>
            <a:r>
              <a:rPr lang="en-US" sz="2150" b="1" dirty="0">
                <a:solidFill>
                  <a:srgbClr val="F95F88"/>
                </a:solidFill>
                <a:latin typeface="Petrona Bold" pitchFamily="34" charset="0"/>
                <a:ea typeface="Petrona Bold" pitchFamily="34" charset="-122"/>
                <a:cs typeface="Petrona Bold" pitchFamily="34" charset="-120"/>
              </a:rPr>
              <a:t>Core Modules: Tailored for Every User Role</a:t>
            </a:r>
            <a:endParaRPr lang="en-US" sz="2150" dirty="0"/>
          </a:p>
        </p:txBody>
      </p:sp>
      <p:sp>
        <p:nvSpPr>
          <p:cNvPr id="8" name="Text 6"/>
          <p:cNvSpPr/>
          <p:nvPr/>
        </p:nvSpPr>
        <p:spPr>
          <a:xfrm>
            <a:off x="783669" y="4930259"/>
            <a:ext cx="2746653" cy="286107"/>
          </a:xfrm>
          <a:prstGeom prst="rect">
            <a:avLst/>
          </a:prstGeom>
          <a:noFill/>
          <a:ln/>
        </p:spPr>
        <p:txBody>
          <a:bodyPr wrap="none" lIns="0" tIns="0" rIns="0" bIns="0" rtlCol="0" anchor="t"/>
          <a:lstStyle/>
          <a:p>
            <a:pPr algn="l" indent="0" marL="0">
              <a:lnSpc>
                <a:spcPts val="2250"/>
              </a:lnSpc>
              <a:buNone/>
            </a:pPr>
            <a:r>
              <a:rPr lang="en-US" sz="1800" b="1" dirty="0">
                <a:solidFill>
                  <a:srgbClr val="F95F88"/>
                </a:solidFill>
                <a:latin typeface="Petrona Bold" pitchFamily="34" charset="0"/>
                <a:ea typeface="Petrona Bold" pitchFamily="34" charset="-122"/>
                <a:cs typeface="Petrona Bold" pitchFamily="34" charset="-120"/>
              </a:rPr>
              <a:t>Secure Registration/Login</a:t>
            </a:r>
            <a:endParaRPr lang="en-US" sz="1800" dirty="0"/>
          </a:p>
        </p:txBody>
      </p:sp>
      <p:sp>
        <p:nvSpPr>
          <p:cNvPr id="9" name="Text 7"/>
          <p:cNvSpPr/>
          <p:nvPr/>
        </p:nvSpPr>
        <p:spPr>
          <a:xfrm>
            <a:off x="783669" y="5382816"/>
            <a:ext cx="2961084" cy="1598771"/>
          </a:xfrm>
          <a:prstGeom prst="rect">
            <a:avLst/>
          </a:prstGeom>
          <a:noFill/>
          <a:ln/>
        </p:spPr>
        <p:txBody>
          <a:bodyPr wrap="square" lIns="0" tIns="0" rIns="0" bIns="0" rtlCol="0" anchor="t"/>
          <a:lstStyle/>
          <a:p>
            <a:pPr algn="l" indent="0" marL="0">
              <a:lnSpc>
                <a:spcPts val="2050"/>
              </a:lnSpc>
              <a:buNone/>
            </a:pPr>
            <a:r>
              <a:rPr lang="en-US" sz="1300" dirty="0">
                <a:solidFill>
                  <a:srgbClr val="272525"/>
                </a:solidFill>
                <a:latin typeface="Inter" pitchFamily="34" charset="0"/>
                <a:ea typeface="Inter" pitchFamily="34" charset="-122"/>
                <a:cs typeface="Inter" pitchFamily="34" charset="-120"/>
              </a:rPr>
              <a:t>Implements role-based access control, ensuring that each user—student, mentor, or administrator—has appropriate permissions and access to specific functionalities from the moment they log in.</a:t>
            </a:r>
            <a:endParaRPr lang="en-US" sz="1300" dirty="0"/>
          </a:p>
        </p:txBody>
      </p:sp>
      <p:sp>
        <p:nvSpPr>
          <p:cNvPr id="10" name="Text 8"/>
          <p:cNvSpPr/>
          <p:nvPr/>
        </p:nvSpPr>
        <p:spPr>
          <a:xfrm>
            <a:off x="4158615" y="4930259"/>
            <a:ext cx="2289929" cy="286107"/>
          </a:xfrm>
          <a:prstGeom prst="rect">
            <a:avLst/>
          </a:prstGeom>
          <a:noFill/>
          <a:ln/>
        </p:spPr>
        <p:txBody>
          <a:bodyPr wrap="none" lIns="0" tIns="0" rIns="0" bIns="0" rtlCol="0" anchor="t"/>
          <a:lstStyle/>
          <a:p>
            <a:pPr algn="l" indent="0" marL="0">
              <a:lnSpc>
                <a:spcPts val="2250"/>
              </a:lnSpc>
              <a:buNone/>
            </a:pPr>
            <a:r>
              <a:rPr lang="en-US" sz="1800" b="1" dirty="0">
                <a:solidFill>
                  <a:srgbClr val="F95F88"/>
                </a:solidFill>
                <a:latin typeface="Petrona Bold" pitchFamily="34" charset="0"/>
                <a:ea typeface="Petrona Bold" pitchFamily="34" charset="-122"/>
                <a:cs typeface="Petrona Bold" pitchFamily="34" charset="-120"/>
              </a:rPr>
              <a:t>Student Dashboard</a:t>
            </a:r>
            <a:endParaRPr lang="en-US" sz="1800" dirty="0"/>
          </a:p>
        </p:txBody>
      </p:sp>
      <p:sp>
        <p:nvSpPr>
          <p:cNvPr id="11" name="Text 9"/>
          <p:cNvSpPr/>
          <p:nvPr/>
        </p:nvSpPr>
        <p:spPr>
          <a:xfrm>
            <a:off x="4158615" y="5382816"/>
            <a:ext cx="2961084" cy="532924"/>
          </a:xfrm>
          <a:prstGeom prst="rect">
            <a:avLst/>
          </a:prstGeom>
          <a:noFill/>
          <a:ln/>
        </p:spPr>
        <p:txBody>
          <a:bodyPr wrap="square" lIns="0" tIns="0" rIns="0" bIns="0" rtlCol="0" anchor="t"/>
          <a:lstStyle/>
          <a:p>
            <a:pPr algn="l" marL="342900" indent="-342900">
              <a:lnSpc>
                <a:spcPts val="2050"/>
              </a:lnSpc>
              <a:buSzPct val="100000"/>
              <a:buChar char="•"/>
            </a:pPr>
            <a:r>
              <a:rPr lang="en-US" sz="1300" dirty="0">
                <a:solidFill>
                  <a:srgbClr val="272525"/>
                </a:solidFill>
                <a:latin typeface="Inter" pitchFamily="34" charset="0"/>
                <a:ea typeface="Inter" pitchFamily="34" charset="-122"/>
                <a:cs typeface="Inter" pitchFamily="34" charset="-120"/>
              </a:rPr>
              <a:t>Seamless internship application process.</a:t>
            </a:r>
            <a:endParaRPr lang="en-US" sz="1300" dirty="0"/>
          </a:p>
        </p:txBody>
      </p:sp>
      <p:sp>
        <p:nvSpPr>
          <p:cNvPr id="12" name="Text 10"/>
          <p:cNvSpPr/>
          <p:nvPr/>
        </p:nvSpPr>
        <p:spPr>
          <a:xfrm>
            <a:off x="4158615" y="5973961"/>
            <a:ext cx="2961084" cy="799386"/>
          </a:xfrm>
          <a:prstGeom prst="rect">
            <a:avLst/>
          </a:prstGeom>
          <a:noFill/>
          <a:ln/>
        </p:spPr>
        <p:txBody>
          <a:bodyPr wrap="square" lIns="0" tIns="0" rIns="0" bIns="0" rtlCol="0" anchor="t"/>
          <a:lstStyle/>
          <a:p>
            <a:pPr algn="l" marL="342900" indent="-342900">
              <a:lnSpc>
                <a:spcPts val="2050"/>
              </a:lnSpc>
              <a:buSzPct val="100000"/>
              <a:buChar char="•"/>
            </a:pPr>
            <a:r>
              <a:rPr lang="en-US" sz="1300" dirty="0">
                <a:solidFill>
                  <a:srgbClr val="272525"/>
                </a:solidFill>
                <a:latin typeface="Inter" pitchFamily="34" charset="0"/>
                <a:ea typeface="Inter" pitchFamily="34" charset="-122"/>
                <a:cs typeface="Inter" pitchFamily="34" charset="-120"/>
              </a:rPr>
              <a:t>Integrated resume builder to help students create professional resumes.</a:t>
            </a:r>
            <a:endParaRPr lang="en-US" sz="1300" dirty="0"/>
          </a:p>
        </p:txBody>
      </p:sp>
      <p:sp>
        <p:nvSpPr>
          <p:cNvPr id="13" name="Text 11"/>
          <p:cNvSpPr/>
          <p:nvPr/>
        </p:nvSpPr>
        <p:spPr>
          <a:xfrm>
            <a:off x="4158615" y="6831568"/>
            <a:ext cx="2961084" cy="799386"/>
          </a:xfrm>
          <a:prstGeom prst="rect">
            <a:avLst/>
          </a:prstGeom>
          <a:noFill/>
          <a:ln/>
        </p:spPr>
        <p:txBody>
          <a:bodyPr wrap="square" lIns="0" tIns="0" rIns="0" bIns="0" rtlCol="0" anchor="t"/>
          <a:lstStyle/>
          <a:p>
            <a:pPr algn="l" marL="342900" indent="-342900">
              <a:lnSpc>
                <a:spcPts val="2050"/>
              </a:lnSpc>
              <a:buSzPct val="100000"/>
              <a:buChar char="•"/>
            </a:pPr>
            <a:r>
              <a:rPr lang="en-US" sz="1300" dirty="0">
                <a:solidFill>
                  <a:srgbClr val="272525"/>
                </a:solidFill>
                <a:latin typeface="Inter" pitchFamily="34" charset="0"/>
                <a:ea typeface="Inter" pitchFamily="34" charset="-122"/>
                <a:cs typeface="Inter" pitchFamily="34" charset="-120"/>
              </a:rPr>
              <a:t>Access to digital certificates upon successful completion of internships.</a:t>
            </a:r>
            <a:endParaRPr lang="en-US" sz="1300" dirty="0"/>
          </a:p>
        </p:txBody>
      </p:sp>
      <p:sp>
        <p:nvSpPr>
          <p:cNvPr id="14" name="Text 12"/>
          <p:cNvSpPr/>
          <p:nvPr/>
        </p:nvSpPr>
        <p:spPr>
          <a:xfrm>
            <a:off x="7533561" y="4930259"/>
            <a:ext cx="2289929" cy="286107"/>
          </a:xfrm>
          <a:prstGeom prst="rect">
            <a:avLst/>
          </a:prstGeom>
          <a:noFill/>
          <a:ln/>
        </p:spPr>
        <p:txBody>
          <a:bodyPr wrap="none" lIns="0" tIns="0" rIns="0" bIns="0" rtlCol="0" anchor="t"/>
          <a:lstStyle/>
          <a:p>
            <a:pPr algn="l" indent="0" marL="0">
              <a:lnSpc>
                <a:spcPts val="2250"/>
              </a:lnSpc>
              <a:buNone/>
            </a:pPr>
            <a:r>
              <a:rPr lang="en-US" sz="1800" b="1" dirty="0">
                <a:solidFill>
                  <a:srgbClr val="F95F88"/>
                </a:solidFill>
                <a:latin typeface="Petrona Bold" pitchFamily="34" charset="0"/>
                <a:ea typeface="Petrona Bold" pitchFamily="34" charset="-122"/>
                <a:cs typeface="Petrona Bold" pitchFamily="34" charset="-120"/>
              </a:rPr>
              <a:t>Mentor Dashboard</a:t>
            </a:r>
            <a:endParaRPr lang="en-US" sz="1800" dirty="0"/>
          </a:p>
        </p:txBody>
      </p:sp>
      <p:sp>
        <p:nvSpPr>
          <p:cNvPr id="15" name="Text 13"/>
          <p:cNvSpPr/>
          <p:nvPr/>
        </p:nvSpPr>
        <p:spPr>
          <a:xfrm>
            <a:off x="7533561" y="5382816"/>
            <a:ext cx="2961084" cy="532924"/>
          </a:xfrm>
          <a:prstGeom prst="rect">
            <a:avLst/>
          </a:prstGeom>
          <a:noFill/>
          <a:ln/>
        </p:spPr>
        <p:txBody>
          <a:bodyPr wrap="square" lIns="0" tIns="0" rIns="0" bIns="0" rtlCol="0" anchor="t"/>
          <a:lstStyle/>
          <a:p>
            <a:pPr algn="l" marL="342900" indent="-342900">
              <a:lnSpc>
                <a:spcPts val="2050"/>
              </a:lnSpc>
              <a:buSzPct val="100000"/>
              <a:buChar char="•"/>
            </a:pPr>
            <a:r>
              <a:rPr lang="en-US" sz="1300" dirty="0">
                <a:solidFill>
                  <a:srgbClr val="272525"/>
                </a:solidFill>
                <a:latin typeface="Inter" pitchFamily="34" charset="0"/>
                <a:ea typeface="Inter" pitchFamily="34" charset="-122"/>
                <a:cs typeface="Inter" pitchFamily="34" charset="-120"/>
              </a:rPr>
              <a:t>Efficient task assignment and project management tools.</a:t>
            </a:r>
            <a:endParaRPr lang="en-US" sz="1300" dirty="0"/>
          </a:p>
        </p:txBody>
      </p:sp>
      <p:sp>
        <p:nvSpPr>
          <p:cNvPr id="16" name="Text 14"/>
          <p:cNvSpPr/>
          <p:nvPr/>
        </p:nvSpPr>
        <p:spPr>
          <a:xfrm>
            <a:off x="7533561" y="5973961"/>
            <a:ext cx="2961084" cy="799386"/>
          </a:xfrm>
          <a:prstGeom prst="rect">
            <a:avLst/>
          </a:prstGeom>
          <a:noFill/>
          <a:ln/>
        </p:spPr>
        <p:txBody>
          <a:bodyPr wrap="square" lIns="0" tIns="0" rIns="0" bIns="0" rtlCol="0" anchor="t"/>
          <a:lstStyle/>
          <a:p>
            <a:pPr algn="l" marL="342900" indent="-342900">
              <a:lnSpc>
                <a:spcPts val="2050"/>
              </a:lnSpc>
              <a:buSzPct val="100000"/>
              <a:buChar char="•"/>
            </a:pPr>
            <a:r>
              <a:rPr lang="en-US" sz="1300" dirty="0">
                <a:solidFill>
                  <a:srgbClr val="272525"/>
                </a:solidFill>
                <a:latin typeface="Inter" pitchFamily="34" charset="0"/>
                <a:ea typeface="Inter" pitchFamily="34" charset="-122"/>
                <a:cs typeface="Inter" pitchFamily="34" charset="-120"/>
              </a:rPr>
              <a:t>Comprehensive performance feedback system for student evaluation.</a:t>
            </a:r>
            <a:endParaRPr lang="en-US" sz="1300" dirty="0"/>
          </a:p>
        </p:txBody>
      </p:sp>
      <p:sp>
        <p:nvSpPr>
          <p:cNvPr id="17" name="Text 15"/>
          <p:cNvSpPr/>
          <p:nvPr/>
        </p:nvSpPr>
        <p:spPr>
          <a:xfrm>
            <a:off x="10908506" y="4930259"/>
            <a:ext cx="2289929" cy="286107"/>
          </a:xfrm>
          <a:prstGeom prst="rect">
            <a:avLst/>
          </a:prstGeom>
          <a:noFill/>
          <a:ln/>
        </p:spPr>
        <p:txBody>
          <a:bodyPr wrap="none" lIns="0" tIns="0" rIns="0" bIns="0" rtlCol="0" anchor="t"/>
          <a:lstStyle/>
          <a:p>
            <a:pPr algn="l" indent="0" marL="0">
              <a:lnSpc>
                <a:spcPts val="2250"/>
              </a:lnSpc>
              <a:buNone/>
            </a:pPr>
            <a:r>
              <a:rPr lang="en-US" sz="1800" b="1" dirty="0">
                <a:solidFill>
                  <a:srgbClr val="F95F88"/>
                </a:solidFill>
                <a:latin typeface="Petrona Bold" pitchFamily="34" charset="0"/>
                <a:ea typeface="Petrona Bold" pitchFamily="34" charset="-122"/>
                <a:cs typeface="Petrona Bold" pitchFamily="34" charset="-120"/>
              </a:rPr>
              <a:t>Admin Dashboard</a:t>
            </a:r>
            <a:endParaRPr lang="en-US" sz="1800" dirty="0"/>
          </a:p>
        </p:txBody>
      </p:sp>
      <p:sp>
        <p:nvSpPr>
          <p:cNvPr id="18" name="Text 16"/>
          <p:cNvSpPr/>
          <p:nvPr/>
        </p:nvSpPr>
        <p:spPr>
          <a:xfrm>
            <a:off x="10908506" y="5382816"/>
            <a:ext cx="2961084" cy="532924"/>
          </a:xfrm>
          <a:prstGeom prst="rect">
            <a:avLst/>
          </a:prstGeom>
          <a:noFill/>
          <a:ln/>
        </p:spPr>
        <p:txBody>
          <a:bodyPr wrap="square" lIns="0" tIns="0" rIns="0" bIns="0" rtlCol="0" anchor="t"/>
          <a:lstStyle/>
          <a:p>
            <a:pPr algn="l" marL="342900" indent="-342900">
              <a:lnSpc>
                <a:spcPts val="2050"/>
              </a:lnSpc>
              <a:buSzPct val="100000"/>
              <a:buChar char="•"/>
            </a:pPr>
            <a:r>
              <a:rPr lang="en-US" sz="1300" dirty="0">
                <a:solidFill>
                  <a:srgbClr val="272525"/>
                </a:solidFill>
                <a:latin typeface="Inter" pitchFamily="34" charset="0"/>
                <a:ea typeface="Inter" pitchFamily="34" charset="-122"/>
                <a:cs typeface="Inter" pitchFamily="34" charset="-120"/>
              </a:rPr>
              <a:t>Centralized internship oversight and management.</a:t>
            </a:r>
            <a:endParaRPr lang="en-US" sz="1300" dirty="0"/>
          </a:p>
        </p:txBody>
      </p:sp>
      <p:sp>
        <p:nvSpPr>
          <p:cNvPr id="19" name="Text 17"/>
          <p:cNvSpPr/>
          <p:nvPr/>
        </p:nvSpPr>
        <p:spPr>
          <a:xfrm>
            <a:off x="10908506" y="5973961"/>
            <a:ext cx="2961084" cy="532924"/>
          </a:xfrm>
          <a:prstGeom prst="rect">
            <a:avLst/>
          </a:prstGeom>
          <a:noFill/>
          <a:ln/>
        </p:spPr>
        <p:txBody>
          <a:bodyPr wrap="square" lIns="0" tIns="0" rIns="0" bIns="0" rtlCol="0" anchor="t"/>
          <a:lstStyle/>
          <a:p>
            <a:pPr algn="l" marL="342900" indent="-342900">
              <a:lnSpc>
                <a:spcPts val="2050"/>
              </a:lnSpc>
              <a:buSzPct val="100000"/>
              <a:buChar char="•"/>
            </a:pPr>
            <a:r>
              <a:rPr lang="en-US" sz="1300" dirty="0">
                <a:solidFill>
                  <a:srgbClr val="272525"/>
                </a:solidFill>
                <a:latin typeface="Inter" pitchFamily="34" charset="0"/>
                <a:ea typeface="Inter" pitchFamily="34" charset="-122"/>
                <a:cs typeface="Inter" pitchFamily="34" charset="-120"/>
              </a:rPr>
              <a:t>Robust user management capabilities.</a:t>
            </a:r>
            <a:endParaRPr lang="en-US" sz="1300" dirty="0"/>
          </a:p>
        </p:txBody>
      </p:sp>
      <p:sp>
        <p:nvSpPr>
          <p:cNvPr id="20" name="Text 18"/>
          <p:cNvSpPr/>
          <p:nvPr/>
        </p:nvSpPr>
        <p:spPr>
          <a:xfrm>
            <a:off x="10908506" y="6565106"/>
            <a:ext cx="2961084" cy="532924"/>
          </a:xfrm>
          <a:prstGeom prst="rect">
            <a:avLst/>
          </a:prstGeom>
          <a:noFill/>
          <a:ln/>
        </p:spPr>
        <p:txBody>
          <a:bodyPr wrap="square" lIns="0" tIns="0" rIns="0" bIns="0" rtlCol="0" anchor="t"/>
          <a:lstStyle/>
          <a:p>
            <a:pPr algn="l" marL="342900" indent="-342900">
              <a:lnSpc>
                <a:spcPts val="2050"/>
              </a:lnSpc>
              <a:buSzPct val="100000"/>
              <a:buChar char="•"/>
            </a:pPr>
            <a:r>
              <a:rPr lang="en-US" sz="1300" dirty="0">
                <a:solidFill>
                  <a:srgbClr val="272525"/>
                </a:solidFill>
                <a:latin typeface="Inter" pitchFamily="34" charset="0"/>
                <a:ea typeface="Inter" pitchFamily="34" charset="-122"/>
                <a:cs typeface="Inter" pitchFamily="34" charset="-120"/>
              </a:rPr>
              <a:t>Streamlined certificate issuance process.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69620"/>
            <a:ext cx="12841843" cy="545663"/>
          </a:xfrm>
          <a:prstGeom prst="rect">
            <a:avLst/>
          </a:prstGeom>
          <a:noFill/>
          <a:ln/>
        </p:spPr>
        <p:txBody>
          <a:bodyPr wrap="none" lIns="0" tIns="0" rIns="0" bIns="0" rtlCol="0" anchor="t"/>
          <a:lstStyle/>
          <a:p>
            <a:pPr algn="l" indent="0" marL="0">
              <a:lnSpc>
                <a:spcPts val="4250"/>
              </a:lnSpc>
              <a:buNone/>
            </a:pPr>
            <a:r>
              <a:rPr lang="en-US" sz="3400" b="1" dirty="0">
                <a:solidFill>
                  <a:srgbClr val="F95F88"/>
                </a:solidFill>
                <a:latin typeface="Petrona Bold" pitchFamily="34" charset="0"/>
                <a:ea typeface="Petrona Bold" pitchFamily="34" charset="-122"/>
                <a:cs typeface="Petrona Bold" pitchFamily="34" charset="-120"/>
              </a:rPr>
              <a:t>AIIP's Comprehensive Security Framework: Protecting User Data</a:t>
            </a:r>
            <a:endParaRPr lang="en-US" sz="3400" dirty="0"/>
          </a:p>
        </p:txBody>
      </p:sp>
      <p:sp>
        <p:nvSpPr>
          <p:cNvPr id="3" name="Text 1"/>
          <p:cNvSpPr/>
          <p:nvPr/>
        </p:nvSpPr>
        <p:spPr>
          <a:xfrm>
            <a:off x="793790" y="1632823"/>
            <a:ext cx="13042821" cy="50815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At the core of AIIP's platform lies a meticulously designed security framework, ensuring the integrity, confidentiality, and availability of all user data. Our commitment to security is paramount, encompassing multiple layers of protection:</a:t>
            </a:r>
            <a:endParaRPr lang="en-US" sz="1250" dirty="0"/>
          </a:p>
        </p:txBody>
      </p:sp>
      <p:sp>
        <p:nvSpPr>
          <p:cNvPr id="4" name="Text 2"/>
          <p:cNvSpPr/>
          <p:nvPr/>
        </p:nvSpPr>
        <p:spPr>
          <a:xfrm>
            <a:off x="793790" y="2319576"/>
            <a:ext cx="13042821" cy="508159"/>
          </a:xfrm>
          <a:prstGeom prst="rect">
            <a:avLst/>
          </a:prstGeom>
          <a:noFill/>
          <a:ln/>
        </p:spPr>
        <p:txBody>
          <a:bodyPr wrap="square" lIns="0" tIns="0" rIns="0" bIns="0" rtlCol="0" anchor="t"/>
          <a:lstStyle/>
          <a:p>
            <a:pPr algn="l" marL="342900" indent="-342900">
              <a:lnSpc>
                <a:spcPts val="2000"/>
              </a:lnSpc>
              <a:buSzPct val="100000"/>
              <a:buChar char="•"/>
            </a:pPr>
            <a:r>
              <a:rPr lang="en-US" sz="1250" b="1" dirty="0">
                <a:solidFill>
                  <a:srgbClr val="272525"/>
                </a:solidFill>
                <a:latin typeface="Inter" pitchFamily="34" charset="0"/>
                <a:ea typeface="Inter" pitchFamily="34" charset="-122"/>
                <a:cs typeface="Inter" pitchFamily="34" charset="-120"/>
              </a:rPr>
              <a:t>Password Hashing (bcrypt):</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All user passwords are encrypted using the industry-standard bcrypt algorithm. This one-way hashing ensures that passwords are never stored in plain text, making them virtually impossible to compromise even if the database is breached.</a:t>
            </a:r>
            <a:endParaRPr lang="en-US" sz="1250" dirty="0"/>
          </a:p>
        </p:txBody>
      </p:sp>
      <p:sp>
        <p:nvSpPr>
          <p:cNvPr id="5" name="Text 3"/>
          <p:cNvSpPr/>
          <p:nvPr/>
        </p:nvSpPr>
        <p:spPr>
          <a:xfrm>
            <a:off x="793790" y="2883218"/>
            <a:ext cx="13042821" cy="508159"/>
          </a:xfrm>
          <a:prstGeom prst="rect">
            <a:avLst/>
          </a:prstGeom>
          <a:noFill/>
          <a:ln/>
        </p:spPr>
        <p:txBody>
          <a:bodyPr wrap="square" lIns="0" tIns="0" rIns="0" bIns="0" rtlCol="0" anchor="t"/>
          <a:lstStyle/>
          <a:p>
            <a:pPr algn="l" marL="342900" indent="-342900">
              <a:lnSpc>
                <a:spcPts val="2000"/>
              </a:lnSpc>
              <a:buSzPct val="100000"/>
              <a:buChar char="•"/>
            </a:pPr>
            <a:r>
              <a:rPr lang="en-US" sz="1250" b="1" dirty="0">
                <a:solidFill>
                  <a:srgbClr val="272525"/>
                </a:solidFill>
                <a:latin typeface="Inter" pitchFamily="34" charset="0"/>
                <a:ea typeface="Inter" pitchFamily="34" charset="-122"/>
                <a:cs typeface="Inter" pitchFamily="34" charset="-120"/>
              </a:rPr>
              <a:t>Role-Based Access Control (RBAC):</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Access to specific functionalities and data is strictly managed based on user roles (Student, Mentor, Admin). This granular control prevents unauthorized access and ensures that users can only interact with information and features relevant to their designated role.</a:t>
            </a:r>
            <a:endParaRPr lang="en-US" sz="1250" dirty="0"/>
          </a:p>
        </p:txBody>
      </p:sp>
      <p:sp>
        <p:nvSpPr>
          <p:cNvPr id="6" name="Text 4"/>
          <p:cNvSpPr/>
          <p:nvPr/>
        </p:nvSpPr>
        <p:spPr>
          <a:xfrm>
            <a:off x="793790" y="3446859"/>
            <a:ext cx="13042821" cy="508159"/>
          </a:xfrm>
          <a:prstGeom prst="rect">
            <a:avLst/>
          </a:prstGeom>
          <a:noFill/>
          <a:ln/>
        </p:spPr>
        <p:txBody>
          <a:bodyPr wrap="square" lIns="0" tIns="0" rIns="0" bIns="0" rtlCol="0" anchor="t"/>
          <a:lstStyle/>
          <a:p>
            <a:pPr algn="l" marL="342900" indent="-342900">
              <a:lnSpc>
                <a:spcPts val="2000"/>
              </a:lnSpc>
              <a:buSzPct val="100000"/>
              <a:buChar char="•"/>
            </a:pPr>
            <a:r>
              <a:rPr lang="en-US" sz="1250" b="1" dirty="0">
                <a:solidFill>
                  <a:srgbClr val="272525"/>
                </a:solidFill>
                <a:latin typeface="Inter" pitchFamily="34" charset="0"/>
                <a:ea typeface="Inter" pitchFamily="34" charset="-122"/>
                <a:cs typeface="Inter" pitchFamily="34" charset="-120"/>
              </a:rPr>
              <a:t>CSRF (Cross-Site Request Forgery) Protection:</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All forms and critical actions on the platform are protected against CSRF attacks. This mechanism ensures that requests submitted to the server originate from legitimate sources within the AIIP application, preventing malicious requests from external sites.</a:t>
            </a:r>
            <a:endParaRPr lang="en-US" sz="1250" dirty="0"/>
          </a:p>
        </p:txBody>
      </p:sp>
      <p:sp>
        <p:nvSpPr>
          <p:cNvPr id="7" name="Text 5"/>
          <p:cNvSpPr/>
          <p:nvPr/>
        </p:nvSpPr>
        <p:spPr>
          <a:xfrm>
            <a:off x="793790" y="4010501"/>
            <a:ext cx="13042821" cy="508159"/>
          </a:xfrm>
          <a:prstGeom prst="rect">
            <a:avLst/>
          </a:prstGeom>
          <a:noFill/>
          <a:ln/>
        </p:spPr>
        <p:txBody>
          <a:bodyPr wrap="square" lIns="0" tIns="0" rIns="0" bIns="0" rtlCol="0" anchor="t"/>
          <a:lstStyle/>
          <a:p>
            <a:pPr algn="l" marL="342900" indent="-342900">
              <a:lnSpc>
                <a:spcPts val="2000"/>
              </a:lnSpc>
              <a:buSzPct val="100000"/>
              <a:buChar char="•"/>
            </a:pPr>
            <a:r>
              <a:rPr lang="en-US" sz="1250" b="1" dirty="0">
                <a:solidFill>
                  <a:srgbClr val="272525"/>
                </a:solidFill>
                <a:latin typeface="Inter" pitchFamily="34" charset="0"/>
                <a:ea typeface="Inter" pitchFamily="34" charset="-122"/>
                <a:cs typeface="Inter" pitchFamily="34" charset="-120"/>
              </a:rPr>
              <a:t>Input Validation (XSS &amp; SQL Injection Prevention):</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Rigorous input validation is applied to all user-submitted data. This crucial step sanitizes and filters inputs, effectively blocking common vulnerabilities such as Cross-Site Scripting (XSS) and SQL Injection attacks, safeguarding both user data and database integrity.</a:t>
            </a:r>
            <a:endParaRPr lang="en-US" sz="1250" dirty="0"/>
          </a:p>
        </p:txBody>
      </p:sp>
      <p:sp>
        <p:nvSpPr>
          <p:cNvPr id="8" name="Text 6"/>
          <p:cNvSpPr/>
          <p:nvPr/>
        </p:nvSpPr>
        <p:spPr>
          <a:xfrm>
            <a:off x="793790" y="4574143"/>
            <a:ext cx="13042821" cy="508159"/>
          </a:xfrm>
          <a:prstGeom prst="rect">
            <a:avLst/>
          </a:prstGeom>
          <a:noFill/>
          <a:ln/>
        </p:spPr>
        <p:txBody>
          <a:bodyPr wrap="square" lIns="0" tIns="0" rIns="0" bIns="0" rtlCol="0" anchor="t"/>
          <a:lstStyle/>
          <a:p>
            <a:pPr algn="l" marL="342900" indent="-342900">
              <a:lnSpc>
                <a:spcPts val="2000"/>
              </a:lnSpc>
              <a:buSzPct val="100000"/>
              <a:buChar char="•"/>
            </a:pPr>
            <a:r>
              <a:rPr lang="en-US" sz="1250" b="1" dirty="0">
                <a:solidFill>
                  <a:srgbClr val="272525"/>
                </a:solidFill>
                <a:latin typeface="Inter" pitchFamily="34" charset="0"/>
                <a:ea typeface="Inter" pitchFamily="34" charset="-122"/>
                <a:cs typeface="Inter" pitchFamily="34" charset="-120"/>
              </a:rPr>
              <a:t>HTTPS for Secure Data Transfer:</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All communication between the user's browser and the AIIP server is encrypted using HTTPS (Hypertext Transfer Protocol Secure). This ensures that all data, including credentials and personal information, is protected during transit from eavesdropping and tampering.</a:t>
            </a:r>
            <a:endParaRPr lang="en-US" sz="1250" dirty="0"/>
          </a:p>
        </p:txBody>
      </p:sp>
      <p:sp>
        <p:nvSpPr>
          <p:cNvPr id="9" name="Text 7"/>
          <p:cNvSpPr/>
          <p:nvPr/>
        </p:nvSpPr>
        <p:spPr>
          <a:xfrm>
            <a:off x="793790" y="5137785"/>
            <a:ext cx="13042821" cy="508159"/>
          </a:xfrm>
          <a:prstGeom prst="rect">
            <a:avLst/>
          </a:prstGeom>
          <a:noFill/>
          <a:ln/>
        </p:spPr>
        <p:txBody>
          <a:bodyPr wrap="square" lIns="0" tIns="0" rIns="0" bIns="0" rtlCol="0" anchor="t"/>
          <a:lstStyle/>
          <a:p>
            <a:pPr algn="l" marL="342900" indent="-342900">
              <a:lnSpc>
                <a:spcPts val="2000"/>
              </a:lnSpc>
              <a:buSzPct val="100000"/>
              <a:buChar char="•"/>
            </a:pPr>
            <a:r>
              <a:rPr lang="en-US" sz="1250" b="1" dirty="0">
                <a:solidFill>
                  <a:srgbClr val="272525"/>
                </a:solidFill>
                <a:latin typeface="Inter" pitchFamily="34" charset="0"/>
                <a:ea typeface="Inter" pitchFamily="34" charset="-122"/>
                <a:cs typeface="Inter" pitchFamily="34" charset="-120"/>
              </a:rPr>
              <a:t>Session Timeout:</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To mitigate the risk of unauthorized access from unattended sessions, AIIP implements an automatic session timeout mechanism. Idle users are securely logged out after a predefined period of inactivity, enhancing overall security.</a:t>
            </a:r>
            <a:endParaRPr lang="en-US" sz="1250" dirty="0"/>
          </a:p>
        </p:txBody>
      </p:sp>
      <p:sp>
        <p:nvSpPr>
          <p:cNvPr id="10" name="Text 8"/>
          <p:cNvSpPr/>
          <p:nvPr/>
        </p:nvSpPr>
        <p:spPr>
          <a:xfrm>
            <a:off x="793790" y="5701427"/>
            <a:ext cx="13042821" cy="508159"/>
          </a:xfrm>
          <a:prstGeom prst="rect">
            <a:avLst/>
          </a:prstGeom>
          <a:noFill/>
          <a:ln/>
        </p:spPr>
        <p:txBody>
          <a:bodyPr wrap="square" lIns="0" tIns="0" rIns="0" bIns="0" rtlCol="0" anchor="t"/>
          <a:lstStyle/>
          <a:p>
            <a:pPr algn="l" marL="342900" indent="-342900">
              <a:lnSpc>
                <a:spcPts val="2000"/>
              </a:lnSpc>
              <a:buSzPct val="100000"/>
              <a:buChar char="•"/>
            </a:pPr>
            <a:r>
              <a:rPr lang="en-US" sz="1250" b="1" dirty="0">
                <a:solidFill>
                  <a:srgbClr val="272525"/>
                </a:solidFill>
                <a:latin typeface="Inter" pitchFamily="34" charset="0"/>
                <a:ea typeface="Inter" pitchFamily="34" charset="-122"/>
                <a:cs typeface="Inter" pitchFamily="34" charset="-120"/>
              </a:rPr>
              <a:t>Secure File Uploads (MIME Checks):</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For modules involving file uploads, strict MIME type validation and file size limits are enforced. This prevents the upload of malicious or oversized files, protecting the server and other users from potential threats.</a:t>
            </a:r>
            <a:endParaRPr lang="en-US" sz="1250" dirty="0"/>
          </a:p>
        </p:txBody>
      </p:sp>
      <p:sp>
        <p:nvSpPr>
          <p:cNvPr id="11" name="Text 9"/>
          <p:cNvSpPr/>
          <p:nvPr/>
        </p:nvSpPr>
        <p:spPr>
          <a:xfrm>
            <a:off x="793790" y="6265069"/>
            <a:ext cx="13042821" cy="508159"/>
          </a:xfrm>
          <a:prstGeom prst="rect">
            <a:avLst/>
          </a:prstGeom>
          <a:noFill/>
          <a:ln/>
        </p:spPr>
        <p:txBody>
          <a:bodyPr wrap="square" lIns="0" tIns="0" rIns="0" bIns="0" rtlCol="0" anchor="t"/>
          <a:lstStyle/>
          <a:p>
            <a:pPr algn="l" marL="342900" indent="-342900">
              <a:lnSpc>
                <a:spcPts val="2000"/>
              </a:lnSpc>
              <a:buSzPct val="100000"/>
              <a:buChar char="•"/>
            </a:pPr>
            <a:r>
              <a:rPr lang="en-US" sz="1250" b="1" dirty="0">
                <a:solidFill>
                  <a:srgbClr val="272525"/>
                </a:solidFill>
                <a:latin typeface="Inter" pitchFamily="34" charset="0"/>
                <a:ea typeface="Inter" pitchFamily="34" charset="-122"/>
                <a:cs typeface="Inter" pitchFamily="34" charset="-120"/>
              </a:rPr>
              <a:t>Admin Access Controls &amp; Audit Logs:</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Administrator actions are subject to stringent access controls, and detailed audit logs are maintained for all critical administrative activities. This provides transparency and accountability, allowing for monitoring and investigation of any suspicious behavior.</a:t>
            </a:r>
            <a:endParaRPr lang="en-US" sz="1250" dirty="0"/>
          </a:p>
        </p:txBody>
      </p:sp>
      <p:sp>
        <p:nvSpPr>
          <p:cNvPr id="12" name="Text 10"/>
          <p:cNvSpPr/>
          <p:nvPr/>
        </p:nvSpPr>
        <p:spPr>
          <a:xfrm>
            <a:off x="793790" y="6951821"/>
            <a:ext cx="13042821" cy="50815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We are also continuously enhancing our security posture with upcoming features such as </a:t>
            </a:r>
            <a:pPr algn="l" indent="0" marL="0">
              <a:lnSpc>
                <a:spcPts val="2000"/>
              </a:lnSpc>
              <a:buNone/>
            </a:pPr>
            <a:r>
              <a:rPr lang="en-US" sz="1250" b="1" dirty="0">
                <a:solidFill>
                  <a:srgbClr val="272525"/>
                </a:solidFill>
                <a:latin typeface="Inter" pitchFamily="34" charset="0"/>
                <a:ea typeface="Inter" pitchFamily="34" charset="-122"/>
                <a:cs typeface="Inter" pitchFamily="34" charset="-120"/>
              </a:rPr>
              <a:t>Two-Factor Authentication (2FA)</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for enhanced login security, </a:t>
            </a:r>
            <a:pPr algn="l" indent="0" marL="0">
              <a:lnSpc>
                <a:spcPts val="2000"/>
              </a:lnSpc>
              <a:buNone/>
            </a:pPr>
            <a:r>
              <a:rPr lang="en-US" sz="1250" b="1" dirty="0">
                <a:solidFill>
                  <a:srgbClr val="272525"/>
                </a:solidFill>
                <a:latin typeface="Inter" pitchFamily="34" charset="0"/>
                <a:ea typeface="Inter" pitchFamily="34" charset="-122"/>
                <a:cs typeface="Inter" pitchFamily="34" charset="-120"/>
              </a:rPr>
              <a:t>rate limiting</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to prevent brute-force attacks, and </a:t>
            </a:r>
            <a:pPr algn="l" indent="0" marL="0">
              <a:lnSpc>
                <a:spcPts val="2000"/>
              </a:lnSpc>
              <a:buNone/>
            </a:pPr>
            <a:r>
              <a:rPr lang="en-US" sz="1250" b="1" dirty="0">
                <a:solidFill>
                  <a:srgbClr val="272525"/>
                </a:solidFill>
                <a:latin typeface="Inter" pitchFamily="34" charset="0"/>
                <a:ea typeface="Inter" pitchFamily="34" charset="-122"/>
                <a:cs typeface="Inter" pitchFamily="34" charset="-120"/>
              </a:rPr>
              <a:t>login alerts</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to notify users of unusual login activities.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683062"/>
            <a:ext cx="11109008" cy="511612"/>
          </a:xfrm>
          <a:prstGeom prst="rect">
            <a:avLst/>
          </a:prstGeom>
          <a:noFill/>
          <a:ln/>
        </p:spPr>
        <p:txBody>
          <a:bodyPr wrap="none" lIns="0" tIns="0" rIns="0" bIns="0" rtlCol="0" anchor="t"/>
          <a:lstStyle/>
          <a:p>
            <a:pPr algn="l" indent="0" marL="0">
              <a:lnSpc>
                <a:spcPts val="4000"/>
              </a:lnSpc>
              <a:buNone/>
            </a:pPr>
            <a:r>
              <a:rPr lang="en-US" sz="3200" b="1" dirty="0">
                <a:solidFill>
                  <a:srgbClr val="F95F88"/>
                </a:solidFill>
                <a:latin typeface="Petrona Bold" pitchFamily="34" charset="0"/>
                <a:ea typeface="Petrona Bold" pitchFamily="34" charset="-122"/>
                <a:cs typeface="Petrona Bold" pitchFamily="34" charset="-120"/>
              </a:rPr>
              <a:t>Tangible Results &amp; Measurable Impact: AIIP's Success Story</a:t>
            </a:r>
            <a:endParaRPr lang="en-US" sz="3200" dirty="0"/>
          </a:p>
        </p:txBody>
      </p:sp>
      <p:sp>
        <p:nvSpPr>
          <p:cNvPr id="3" name="Text 1"/>
          <p:cNvSpPr/>
          <p:nvPr/>
        </p:nvSpPr>
        <p:spPr>
          <a:xfrm>
            <a:off x="793790" y="1492329"/>
            <a:ext cx="13042821" cy="476250"/>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The All India Internship Program (AIIP) has rapidly demonstrated significant traction and delivered measurable outcomes, reinforcing its role as a pivotal platform for skill development in India. Our robust adoption metrics and the qualitative impact on students' career trajectories speak volumes about the program's effectiveness.</a:t>
            </a:r>
            <a:endParaRPr lang="en-US" sz="1150" dirty="0"/>
          </a:p>
        </p:txBody>
      </p:sp>
      <p:sp>
        <p:nvSpPr>
          <p:cNvPr id="4" name="Text 2"/>
          <p:cNvSpPr/>
          <p:nvPr/>
        </p:nvSpPr>
        <p:spPr>
          <a:xfrm>
            <a:off x="793790" y="2210395"/>
            <a:ext cx="3121223" cy="491133"/>
          </a:xfrm>
          <a:prstGeom prst="rect">
            <a:avLst/>
          </a:prstGeom>
          <a:noFill/>
          <a:ln/>
        </p:spPr>
        <p:txBody>
          <a:bodyPr wrap="none" lIns="0" tIns="0" rIns="0" bIns="0" rtlCol="0" anchor="t"/>
          <a:lstStyle/>
          <a:p>
            <a:pPr algn="ctr" indent="0" marL="0">
              <a:lnSpc>
                <a:spcPts val="3850"/>
              </a:lnSpc>
              <a:buNone/>
            </a:pPr>
            <a:r>
              <a:rPr lang="en-US" sz="3850" b="1" dirty="0">
                <a:solidFill>
                  <a:srgbClr val="272525"/>
                </a:solidFill>
                <a:latin typeface="Petrona Bold" pitchFamily="34" charset="0"/>
                <a:ea typeface="Petrona Bold" pitchFamily="34" charset="-122"/>
                <a:cs typeface="Petrona Bold" pitchFamily="34" charset="-120"/>
              </a:rPr>
              <a:t>8500+</a:t>
            </a:r>
            <a:endParaRPr lang="en-US" sz="3850" dirty="0"/>
          </a:p>
        </p:txBody>
      </p:sp>
      <p:sp>
        <p:nvSpPr>
          <p:cNvPr id="5" name="Text 3"/>
          <p:cNvSpPr/>
          <p:nvPr/>
        </p:nvSpPr>
        <p:spPr>
          <a:xfrm>
            <a:off x="1331000" y="2887504"/>
            <a:ext cx="2046684" cy="255746"/>
          </a:xfrm>
          <a:prstGeom prst="rect">
            <a:avLst/>
          </a:prstGeom>
          <a:noFill/>
          <a:ln/>
        </p:spPr>
        <p:txBody>
          <a:bodyPr wrap="none" lIns="0" tIns="0" rIns="0" bIns="0" rtlCol="0" anchor="t"/>
          <a:lstStyle/>
          <a:p>
            <a:pPr algn="ctr" indent="0" marL="0">
              <a:lnSpc>
                <a:spcPts val="2000"/>
              </a:lnSpc>
              <a:buNone/>
            </a:pPr>
            <a:r>
              <a:rPr lang="en-US" sz="1600" b="1" dirty="0">
                <a:solidFill>
                  <a:srgbClr val="272525"/>
                </a:solidFill>
                <a:latin typeface="Petrona Bold" pitchFamily="34" charset="0"/>
                <a:ea typeface="Petrona Bold" pitchFamily="34" charset="-122"/>
                <a:cs typeface="Petrona Bold" pitchFamily="34" charset="-120"/>
              </a:rPr>
              <a:t>Students Registered</a:t>
            </a:r>
            <a:endParaRPr lang="en-US" sz="1600" dirty="0"/>
          </a:p>
        </p:txBody>
      </p:sp>
      <p:sp>
        <p:nvSpPr>
          <p:cNvPr id="6" name="Text 4"/>
          <p:cNvSpPr/>
          <p:nvPr/>
        </p:nvSpPr>
        <p:spPr>
          <a:xfrm>
            <a:off x="793790" y="3232547"/>
            <a:ext cx="3121223" cy="952500"/>
          </a:xfrm>
          <a:prstGeom prst="rect">
            <a:avLst/>
          </a:prstGeom>
          <a:noFill/>
          <a:ln/>
        </p:spPr>
        <p:txBody>
          <a:bodyPr wrap="square" lIns="0" tIns="0" rIns="0" bIns="0" rtlCol="0" anchor="t"/>
          <a:lstStyle/>
          <a:p>
            <a:pPr algn="ctr" indent="0" marL="0">
              <a:lnSpc>
                <a:spcPts val="1850"/>
              </a:lnSpc>
              <a:buNone/>
            </a:pPr>
            <a:r>
              <a:rPr lang="en-US" sz="1150" dirty="0">
                <a:solidFill>
                  <a:srgbClr val="272525"/>
                </a:solidFill>
                <a:latin typeface="Inter" pitchFamily="34" charset="0"/>
                <a:ea typeface="Inter" pitchFamily="34" charset="-122"/>
                <a:cs typeface="Inter" pitchFamily="34" charset="-120"/>
              </a:rPr>
              <a:t>Across diverse regions of India, demonstrating widespread acceptance and demand for structured internship opportunities.</a:t>
            </a:r>
            <a:endParaRPr lang="en-US" sz="1150" dirty="0"/>
          </a:p>
        </p:txBody>
      </p:sp>
      <p:sp>
        <p:nvSpPr>
          <p:cNvPr id="7" name="Text 5"/>
          <p:cNvSpPr/>
          <p:nvPr/>
        </p:nvSpPr>
        <p:spPr>
          <a:xfrm>
            <a:off x="4100989" y="2210395"/>
            <a:ext cx="3121223" cy="491133"/>
          </a:xfrm>
          <a:prstGeom prst="rect">
            <a:avLst/>
          </a:prstGeom>
          <a:noFill/>
          <a:ln/>
        </p:spPr>
        <p:txBody>
          <a:bodyPr wrap="none" lIns="0" tIns="0" rIns="0" bIns="0" rtlCol="0" anchor="t"/>
          <a:lstStyle/>
          <a:p>
            <a:pPr algn="ctr" indent="0" marL="0">
              <a:lnSpc>
                <a:spcPts val="3850"/>
              </a:lnSpc>
              <a:buNone/>
            </a:pPr>
            <a:r>
              <a:rPr lang="en-US" sz="3850" b="1" dirty="0">
                <a:solidFill>
                  <a:srgbClr val="272525"/>
                </a:solidFill>
                <a:latin typeface="Petrona Bold" pitchFamily="34" charset="0"/>
                <a:ea typeface="Petrona Bold" pitchFamily="34" charset="-122"/>
                <a:cs typeface="Petrona Bold" pitchFamily="34" charset="-120"/>
              </a:rPr>
              <a:t>70+</a:t>
            </a:r>
            <a:endParaRPr lang="en-US" sz="3850" dirty="0"/>
          </a:p>
        </p:txBody>
      </p:sp>
      <p:sp>
        <p:nvSpPr>
          <p:cNvPr id="8" name="Text 6"/>
          <p:cNvSpPr/>
          <p:nvPr/>
        </p:nvSpPr>
        <p:spPr>
          <a:xfrm>
            <a:off x="4638199" y="2887504"/>
            <a:ext cx="2046684" cy="255746"/>
          </a:xfrm>
          <a:prstGeom prst="rect">
            <a:avLst/>
          </a:prstGeom>
          <a:noFill/>
          <a:ln/>
        </p:spPr>
        <p:txBody>
          <a:bodyPr wrap="none" lIns="0" tIns="0" rIns="0" bIns="0" rtlCol="0" anchor="t"/>
          <a:lstStyle/>
          <a:p>
            <a:pPr algn="ctr" indent="0" marL="0">
              <a:lnSpc>
                <a:spcPts val="2000"/>
              </a:lnSpc>
              <a:buNone/>
            </a:pPr>
            <a:r>
              <a:rPr lang="en-US" sz="1600" b="1" dirty="0">
                <a:solidFill>
                  <a:srgbClr val="272525"/>
                </a:solidFill>
                <a:latin typeface="Petrona Bold" pitchFamily="34" charset="0"/>
                <a:ea typeface="Petrona Bold" pitchFamily="34" charset="-122"/>
                <a:cs typeface="Petrona Bold" pitchFamily="34" charset="-120"/>
              </a:rPr>
              <a:t>Mentors Engaged</a:t>
            </a:r>
            <a:endParaRPr lang="en-US" sz="1600" dirty="0"/>
          </a:p>
        </p:txBody>
      </p:sp>
      <p:sp>
        <p:nvSpPr>
          <p:cNvPr id="9" name="Text 7"/>
          <p:cNvSpPr/>
          <p:nvPr/>
        </p:nvSpPr>
        <p:spPr>
          <a:xfrm>
            <a:off x="4100989" y="3232547"/>
            <a:ext cx="3121223" cy="952500"/>
          </a:xfrm>
          <a:prstGeom prst="rect">
            <a:avLst/>
          </a:prstGeom>
          <a:noFill/>
          <a:ln/>
        </p:spPr>
        <p:txBody>
          <a:bodyPr wrap="square" lIns="0" tIns="0" rIns="0" bIns="0" rtlCol="0" anchor="t"/>
          <a:lstStyle/>
          <a:p>
            <a:pPr algn="ctr" indent="0" marL="0">
              <a:lnSpc>
                <a:spcPts val="1850"/>
              </a:lnSpc>
              <a:buNone/>
            </a:pPr>
            <a:r>
              <a:rPr lang="en-US" sz="1150" dirty="0">
                <a:solidFill>
                  <a:srgbClr val="272525"/>
                </a:solidFill>
                <a:latin typeface="Inter" pitchFamily="34" charset="0"/>
                <a:ea typeface="Inter" pitchFamily="34" charset="-122"/>
                <a:cs typeface="Inter" pitchFamily="34" charset="-120"/>
              </a:rPr>
              <a:t>A growing network of industry professionals committed to guiding and nurturing the next generation of engineers, providing invaluable real-world insights.</a:t>
            </a:r>
            <a:endParaRPr lang="en-US" sz="1150" dirty="0"/>
          </a:p>
        </p:txBody>
      </p:sp>
      <p:sp>
        <p:nvSpPr>
          <p:cNvPr id="10" name="Text 8"/>
          <p:cNvSpPr/>
          <p:nvPr/>
        </p:nvSpPr>
        <p:spPr>
          <a:xfrm>
            <a:off x="7408188" y="2210395"/>
            <a:ext cx="3121223" cy="491133"/>
          </a:xfrm>
          <a:prstGeom prst="rect">
            <a:avLst/>
          </a:prstGeom>
          <a:noFill/>
          <a:ln/>
        </p:spPr>
        <p:txBody>
          <a:bodyPr wrap="none" lIns="0" tIns="0" rIns="0" bIns="0" rtlCol="0" anchor="t"/>
          <a:lstStyle/>
          <a:p>
            <a:pPr algn="ctr" indent="0" marL="0">
              <a:lnSpc>
                <a:spcPts val="3850"/>
              </a:lnSpc>
              <a:buNone/>
            </a:pPr>
            <a:r>
              <a:rPr lang="en-US" sz="3850" b="1" dirty="0">
                <a:solidFill>
                  <a:srgbClr val="272525"/>
                </a:solidFill>
                <a:latin typeface="Petrona Bold" pitchFamily="34" charset="0"/>
                <a:ea typeface="Petrona Bold" pitchFamily="34" charset="-122"/>
                <a:cs typeface="Petrona Bold" pitchFamily="34" charset="-120"/>
              </a:rPr>
              <a:t>1200+</a:t>
            </a:r>
            <a:endParaRPr lang="en-US" sz="3850" dirty="0"/>
          </a:p>
        </p:txBody>
      </p:sp>
      <p:sp>
        <p:nvSpPr>
          <p:cNvPr id="11" name="Text 9"/>
          <p:cNvSpPr/>
          <p:nvPr/>
        </p:nvSpPr>
        <p:spPr>
          <a:xfrm>
            <a:off x="7751445" y="2887504"/>
            <a:ext cx="2434590" cy="255746"/>
          </a:xfrm>
          <a:prstGeom prst="rect">
            <a:avLst/>
          </a:prstGeom>
          <a:noFill/>
          <a:ln/>
        </p:spPr>
        <p:txBody>
          <a:bodyPr wrap="none" lIns="0" tIns="0" rIns="0" bIns="0" rtlCol="0" anchor="t"/>
          <a:lstStyle/>
          <a:p>
            <a:pPr algn="ctr" indent="0" marL="0">
              <a:lnSpc>
                <a:spcPts val="2000"/>
              </a:lnSpc>
              <a:buNone/>
            </a:pPr>
            <a:r>
              <a:rPr lang="en-US" sz="1600" b="1" dirty="0">
                <a:solidFill>
                  <a:srgbClr val="272525"/>
                </a:solidFill>
                <a:latin typeface="Petrona Bold" pitchFamily="34" charset="0"/>
                <a:ea typeface="Petrona Bold" pitchFamily="34" charset="-122"/>
                <a:cs typeface="Petrona Bold" pitchFamily="34" charset="-120"/>
              </a:rPr>
              <a:t>Digital Certificates Issued</a:t>
            </a:r>
            <a:endParaRPr lang="en-US" sz="1600" dirty="0"/>
          </a:p>
        </p:txBody>
      </p:sp>
      <p:sp>
        <p:nvSpPr>
          <p:cNvPr id="12" name="Text 10"/>
          <p:cNvSpPr/>
          <p:nvPr/>
        </p:nvSpPr>
        <p:spPr>
          <a:xfrm>
            <a:off x="7408188" y="3232547"/>
            <a:ext cx="3121223" cy="952500"/>
          </a:xfrm>
          <a:prstGeom prst="rect">
            <a:avLst/>
          </a:prstGeom>
          <a:noFill/>
          <a:ln/>
        </p:spPr>
        <p:txBody>
          <a:bodyPr wrap="square" lIns="0" tIns="0" rIns="0" bIns="0" rtlCol="0" anchor="t"/>
          <a:lstStyle/>
          <a:p>
            <a:pPr algn="ctr" indent="0" marL="0">
              <a:lnSpc>
                <a:spcPts val="1850"/>
              </a:lnSpc>
              <a:buNone/>
            </a:pPr>
            <a:r>
              <a:rPr lang="en-US" sz="1150" dirty="0">
                <a:solidFill>
                  <a:srgbClr val="272525"/>
                </a:solidFill>
                <a:latin typeface="Inter" pitchFamily="34" charset="0"/>
                <a:ea typeface="Inter" pitchFamily="34" charset="-122"/>
                <a:cs typeface="Inter" pitchFamily="34" charset="-120"/>
              </a:rPr>
              <a:t>Formal recognition of completed internships, validating acquired skills and boosting students' credentials for future employment.</a:t>
            </a:r>
            <a:endParaRPr lang="en-US" sz="1150" dirty="0"/>
          </a:p>
        </p:txBody>
      </p:sp>
      <p:sp>
        <p:nvSpPr>
          <p:cNvPr id="13" name="Text 11"/>
          <p:cNvSpPr/>
          <p:nvPr/>
        </p:nvSpPr>
        <p:spPr>
          <a:xfrm>
            <a:off x="10715387" y="2210395"/>
            <a:ext cx="3121223" cy="491133"/>
          </a:xfrm>
          <a:prstGeom prst="rect">
            <a:avLst/>
          </a:prstGeom>
          <a:noFill/>
          <a:ln/>
        </p:spPr>
        <p:txBody>
          <a:bodyPr wrap="none" lIns="0" tIns="0" rIns="0" bIns="0" rtlCol="0" anchor="t"/>
          <a:lstStyle/>
          <a:p>
            <a:pPr algn="ctr" indent="0" marL="0">
              <a:lnSpc>
                <a:spcPts val="3850"/>
              </a:lnSpc>
              <a:buNone/>
            </a:pPr>
            <a:r>
              <a:rPr lang="en-US" sz="3850" b="1" dirty="0">
                <a:solidFill>
                  <a:srgbClr val="272525"/>
                </a:solidFill>
                <a:latin typeface="Petrona Bold" pitchFamily="34" charset="0"/>
                <a:ea typeface="Petrona Bold" pitchFamily="34" charset="-122"/>
                <a:cs typeface="Petrona Bold" pitchFamily="34" charset="-120"/>
              </a:rPr>
              <a:t>8+</a:t>
            </a:r>
            <a:endParaRPr lang="en-US" sz="3850" dirty="0"/>
          </a:p>
        </p:txBody>
      </p:sp>
      <p:sp>
        <p:nvSpPr>
          <p:cNvPr id="14" name="Text 12"/>
          <p:cNvSpPr/>
          <p:nvPr/>
        </p:nvSpPr>
        <p:spPr>
          <a:xfrm>
            <a:off x="11252597" y="2887504"/>
            <a:ext cx="2046684" cy="255746"/>
          </a:xfrm>
          <a:prstGeom prst="rect">
            <a:avLst/>
          </a:prstGeom>
          <a:noFill/>
          <a:ln/>
        </p:spPr>
        <p:txBody>
          <a:bodyPr wrap="none" lIns="0" tIns="0" rIns="0" bIns="0" rtlCol="0" anchor="t"/>
          <a:lstStyle/>
          <a:p>
            <a:pPr algn="ctr" indent="0" marL="0">
              <a:lnSpc>
                <a:spcPts val="2000"/>
              </a:lnSpc>
              <a:buNone/>
            </a:pPr>
            <a:r>
              <a:rPr lang="en-US" sz="1600" b="1" dirty="0">
                <a:solidFill>
                  <a:srgbClr val="272525"/>
                </a:solidFill>
                <a:latin typeface="Petrona Bold" pitchFamily="34" charset="0"/>
                <a:ea typeface="Petrona Bold" pitchFamily="34" charset="-122"/>
                <a:cs typeface="Petrona Bold" pitchFamily="34" charset="-120"/>
              </a:rPr>
              <a:t>Projects Completed</a:t>
            </a:r>
            <a:endParaRPr lang="en-US" sz="1600" dirty="0"/>
          </a:p>
        </p:txBody>
      </p:sp>
      <p:sp>
        <p:nvSpPr>
          <p:cNvPr id="15" name="Text 13"/>
          <p:cNvSpPr/>
          <p:nvPr/>
        </p:nvSpPr>
        <p:spPr>
          <a:xfrm>
            <a:off x="10715387" y="3232547"/>
            <a:ext cx="3121223" cy="952500"/>
          </a:xfrm>
          <a:prstGeom prst="rect">
            <a:avLst/>
          </a:prstGeom>
          <a:noFill/>
          <a:ln/>
        </p:spPr>
        <p:txBody>
          <a:bodyPr wrap="square" lIns="0" tIns="0" rIns="0" bIns="0" rtlCol="0" anchor="t"/>
          <a:lstStyle/>
          <a:p>
            <a:pPr algn="ctr" indent="0" marL="0">
              <a:lnSpc>
                <a:spcPts val="1850"/>
              </a:lnSpc>
              <a:buNone/>
            </a:pPr>
            <a:r>
              <a:rPr lang="en-US" sz="1150" dirty="0">
                <a:solidFill>
                  <a:srgbClr val="272525"/>
                </a:solidFill>
                <a:latin typeface="Inter" pitchFamily="34" charset="0"/>
                <a:ea typeface="Inter" pitchFamily="34" charset="-122"/>
                <a:cs typeface="Inter" pitchFamily="34" charset="-120"/>
              </a:rPr>
              <a:t>Successful execution of diverse projects, showcasing practical application of theoretical knowledge and problem-solving abilities.</a:t>
            </a:r>
            <a:endParaRPr lang="en-US" sz="1150" dirty="0"/>
          </a:p>
        </p:txBody>
      </p:sp>
      <p:sp>
        <p:nvSpPr>
          <p:cNvPr id="16" name="Text 14"/>
          <p:cNvSpPr/>
          <p:nvPr/>
        </p:nvSpPr>
        <p:spPr>
          <a:xfrm>
            <a:off x="793790" y="4408289"/>
            <a:ext cx="4973955" cy="306943"/>
          </a:xfrm>
          <a:prstGeom prst="rect">
            <a:avLst/>
          </a:prstGeom>
          <a:noFill/>
          <a:ln/>
        </p:spPr>
        <p:txBody>
          <a:bodyPr wrap="none" lIns="0" tIns="0" rIns="0" bIns="0" rtlCol="0" anchor="t"/>
          <a:lstStyle/>
          <a:p>
            <a:pPr algn="l" indent="0" marL="0">
              <a:lnSpc>
                <a:spcPts val="2400"/>
              </a:lnSpc>
              <a:buNone/>
            </a:pPr>
            <a:r>
              <a:rPr lang="en-US" sz="1900" b="1" dirty="0">
                <a:solidFill>
                  <a:srgbClr val="F95F88"/>
                </a:solidFill>
                <a:latin typeface="Petrona Bold" pitchFamily="34" charset="0"/>
                <a:ea typeface="Petrona Bold" pitchFamily="34" charset="-122"/>
                <a:cs typeface="Petrona Bold" pitchFamily="34" charset="-120"/>
              </a:rPr>
              <a:t>Beyond Numbers: Transformative Outcomes</a:t>
            </a:r>
            <a:endParaRPr lang="en-US" sz="1900" dirty="0"/>
          </a:p>
        </p:txBody>
      </p:sp>
      <p:sp>
        <p:nvSpPr>
          <p:cNvPr id="17" name="Text 15"/>
          <p:cNvSpPr/>
          <p:nvPr/>
        </p:nvSpPr>
        <p:spPr>
          <a:xfrm>
            <a:off x="793790" y="4938474"/>
            <a:ext cx="13042821" cy="238125"/>
          </a:xfrm>
          <a:prstGeom prst="rect">
            <a:avLst/>
          </a:prstGeom>
          <a:noFill/>
          <a:ln/>
        </p:spPr>
        <p:txBody>
          <a:bodyPr wrap="non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The impact of AIIP extends beyond mere statistics, fostering profound improvements in student capabilities and confidence:</a:t>
            </a:r>
            <a:endParaRPr lang="en-US" sz="1150" dirty="0"/>
          </a:p>
        </p:txBody>
      </p:sp>
      <p:sp>
        <p:nvSpPr>
          <p:cNvPr id="18" name="Text 16"/>
          <p:cNvSpPr/>
          <p:nvPr/>
        </p:nvSpPr>
        <p:spPr>
          <a:xfrm>
            <a:off x="793790" y="5344001"/>
            <a:ext cx="13042821" cy="238125"/>
          </a:xfrm>
          <a:prstGeom prst="rect">
            <a:avLst/>
          </a:prstGeom>
          <a:noFill/>
          <a:ln/>
        </p:spPr>
        <p:txBody>
          <a:bodyPr wrap="none" lIns="0" tIns="0" rIns="0" bIns="0" rtlCol="0" anchor="t"/>
          <a:lstStyle/>
          <a:p>
            <a:pPr algn="l" marL="342900" indent="-342900">
              <a:lnSpc>
                <a:spcPts val="1850"/>
              </a:lnSpc>
              <a:buSzPct val="100000"/>
              <a:buChar char="•"/>
            </a:pPr>
            <a:r>
              <a:rPr lang="en-US" sz="1150" b="1" dirty="0">
                <a:solidFill>
                  <a:srgbClr val="272525"/>
                </a:solidFill>
                <a:latin typeface="Inter" pitchFamily="34" charset="0"/>
                <a:ea typeface="Inter" pitchFamily="34" charset="-122"/>
                <a:cs typeface="Inter" pitchFamily="34" charset="-120"/>
              </a:rPr>
              <a:t>Hands-on Skill Development:</a:t>
            </a:r>
            <a:pPr algn="l" indent="0" marL="0">
              <a:lnSpc>
                <a:spcPts val="1850"/>
              </a:lnSpc>
              <a:buNone/>
            </a:pPr>
            <a:r>
              <a:rPr lang="en-US" sz="1150" dirty="0">
                <a:solidFill>
                  <a:srgbClr val="272525"/>
                </a:solidFill>
                <a:latin typeface="Inter" pitchFamily="34" charset="0"/>
                <a:ea typeface="Inter" pitchFamily="34" charset="-122"/>
                <a:cs typeface="Inter" pitchFamily="34" charset="-120"/>
              </a:rPr>
              <a:t> Students gain direct experience with industry tools and methodologies, translating theoretical knowledge into practical expertise.</a:t>
            </a:r>
            <a:endParaRPr lang="en-US" sz="1150" dirty="0"/>
          </a:p>
        </p:txBody>
      </p:sp>
      <p:sp>
        <p:nvSpPr>
          <p:cNvPr id="19" name="Text 17"/>
          <p:cNvSpPr/>
          <p:nvPr/>
        </p:nvSpPr>
        <p:spPr>
          <a:xfrm>
            <a:off x="793790" y="5634157"/>
            <a:ext cx="13042821" cy="476250"/>
          </a:xfrm>
          <a:prstGeom prst="rect">
            <a:avLst/>
          </a:prstGeom>
          <a:noFill/>
          <a:ln/>
        </p:spPr>
        <p:txBody>
          <a:bodyPr wrap="square" lIns="0" tIns="0" rIns="0" bIns="0" rtlCol="0" anchor="t"/>
          <a:lstStyle/>
          <a:p>
            <a:pPr algn="l" marL="342900" indent="-342900">
              <a:lnSpc>
                <a:spcPts val="1850"/>
              </a:lnSpc>
              <a:buSzPct val="100000"/>
              <a:buChar char="•"/>
            </a:pPr>
            <a:r>
              <a:rPr lang="en-US" sz="1150" b="1" dirty="0">
                <a:solidFill>
                  <a:srgbClr val="272525"/>
                </a:solidFill>
                <a:latin typeface="Inter" pitchFamily="34" charset="0"/>
                <a:ea typeface="Inter" pitchFamily="34" charset="-122"/>
                <a:cs typeface="Inter" pitchFamily="34" charset="-120"/>
              </a:rPr>
              <a:t>Boosted Confidence &amp; Career Clarity:</a:t>
            </a:r>
            <a:pPr algn="l" indent="0" marL="0">
              <a:lnSpc>
                <a:spcPts val="1850"/>
              </a:lnSpc>
              <a:buNone/>
            </a:pPr>
            <a:r>
              <a:rPr lang="en-US" sz="1150" dirty="0">
                <a:solidFill>
                  <a:srgbClr val="272525"/>
                </a:solidFill>
                <a:latin typeface="Inter" pitchFamily="34" charset="0"/>
                <a:ea typeface="Inter" pitchFamily="34" charset="-122"/>
                <a:cs typeface="Inter" pitchFamily="34" charset="-120"/>
              </a:rPr>
              <a:t> Through practical application and mentor feedback, students develop greater self-assurance and a clearer understanding of their career paths.</a:t>
            </a:r>
            <a:endParaRPr lang="en-US" sz="1150" dirty="0"/>
          </a:p>
        </p:txBody>
      </p:sp>
      <p:sp>
        <p:nvSpPr>
          <p:cNvPr id="20" name="Text 18"/>
          <p:cNvSpPr/>
          <p:nvPr/>
        </p:nvSpPr>
        <p:spPr>
          <a:xfrm>
            <a:off x="793790" y="6162437"/>
            <a:ext cx="13042821" cy="238125"/>
          </a:xfrm>
          <a:prstGeom prst="rect">
            <a:avLst/>
          </a:prstGeom>
          <a:noFill/>
          <a:ln/>
        </p:spPr>
        <p:txBody>
          <a:bodyPr wrap="none" lIns="0" tIns="0" rIns="0" bIns="0" rtlCol="0" anchor="t"/>
          <a:lstStyle/>
          <a:p>
            <a:pPr algn="l" marL="342900" indent="-342900">
              <a:lnSpc>
                <a:spcPts val="1850"/>
              </a:lnSpc>
              <a:buSzPct val="100000"/>
              <a:buChar char="•"/>
            </a:pPr>
            <a:r>
              <a:rPr lang="en-US" sz="1150" b="1" dirty="0">
                <a:solidFill>
                  <a:srgbClr val="272525"/>
                </a:solidFill>
                <a:latin typeface="Inter" pitchFamily="34" charset="0"/>
                <a:ea typeface="Inter" pitchFamily="34" charset="-122"/>
                <a:cs typeface="Inter" pitchFamily="34" charset="-120"/>
              </a:rPr>
              <a:t>Improved Placement Potential:</a:t>
            </a:r>
            <a:pPr algn="l" indent="0" marL="0">
              <a:lnSpc>
                <a:spcPts val="1850"/>
              </a:lnSpc>
              <a:buNone/>
            </a:pPr>
            <a:r>
              <a:rPr lang="en-US" sz="1150" dirty="0">
                <a:solidFill>
                  <a:srgbClr val="272525"/>
                </a:solidFill>
                <a:latin typeface="Inter" pitchFamily="34" charset="0"/>
                <a:ea typeface="Inter" pitchFamily="34" charset="-122"/>
                <a:cs typeface="Inter" pitchFamily="34" charset="-120"/>
              </a:rPr>
              <a:t> Enhanced skill sets and verifiable experience significantly improve students' employability and prospects in the competitive job market.</a:t>
            </a:r>
            <a:endParaRPr lang="en-US" sz="1150" dirty="0"/>
          </a:p>
        </p:txBody>
      </p:sp>
      <p:sp>
        <p:nvSpPr>
          <p:cNvPr id="21" name="Text 19"/>
          <p:cNvSpPr/>
          <p:nvPr/>
        </p:nvSpPr>
        <p:spPr>
          <a:xfrm>
            <a:off x="1017032" y="6735366"/>
            <a:ext cx="12819578" cy="238125"/>
          </a:xfrm>
          <a:prstGeom prst="rect">
            <a:avLst/>
          </a:prstGeom>
          <a:noFill/>
          <a:ln/>
        </p:spPr>
        <p:txBody>
          <a:bodyPr wrap="none" lIns="0" tIns="0" rIns="0" bIns="0" rtlCol="0" anchor="t"/>
          <a:lstStyle/>
          <a:p>
            <a:pPr algn="l" indent="0" marL="0">
              <a:lnSpc>
                <a:spcPts val="1850"/>
              </a:lnSpc>
              <a:buNone/>
            </a:pPr>
            <a:r>
              <a:rPr lang="en-US" sz="1150" i="1" dirty="0">
                <a:solidFill>
                  <a:srgbClr val="272525"/>
                </a:solidFill>
                <a:latin typeface="Inter" pitchFamily="34" charset="0"/>
                <a:ea typeface="Inter" pitchFamily="34" charset="-122"/>
                <a:cs typeface="Inter" pitchFamily="34" charset="-120"/>
              </a:rPr>
              <a:t>"AIIP has truly revolutionized access to quality internship experiences, particularly for students in Tier 2 and Tier 3 colleges, leveling the playing field and fostering genuine talent."</a:t>
            </a:r>
            <a:endParaRPr lang="en-US" sz="1150" dirty="0"/>
          </a:p>
        </p:txBody>
      </p:sp>
      <p:sp>
        <p:nvSpPr>
          <p:cNvPr id="22" name="Shape 20"/>
          <p:cNvSpPr/>
          <p:nvPr/>
        </p:nvSpPr>
        <p:spPr>
          <a:xfrm>
            <a:off x="793790" y="6567964"/>
            <a:ext cx="15240" cy="572929"/>
          </a:xfrm>
          <a:prstGeom prst="rect">
            <a:avLst/>
          </a:prstGeom>
          <a:solidFill>
            <a:srgbClr val="6237C8"/>
          </a:solidFill>
          <a:ln/>
        </p:spPr>
      </p:sp>
      <p:sp>
        <p:nvSpPr>
          <p:cNvPr id="23" name="Text 21"/>
          <p:cNvSpPr/>
          <p:nvPr/>
        </p:nvSpPr>
        <p:spPr>
          <a:xfrm>
            <a:off x="793790" y="7308294"/>
            <a:ext cx="13042821" cy="238125"/>
          </a:xfrm>
          <a:prstGeom prst="rect">
            <a:avLst/>
          </a:prstGeom>
          <a:noFill/>
          <a:ln/>
        </p:spPr>
        <p:txBody>
          <a:bodyPr wrap="non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This statement encapsulates the core value proposition of AIIP: democratizing access to high-quality practical learning and empowering students nationwide.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55333" y="649010"/>
            <a:ext cx="9685853" cy="551855"/>
          </a:xfrm>
          <a:prstGeom prst="rect">
            <a:avLst/>
          </a:prstGeom>
          <a:noFill/>
          <a:ln/>
        </p:spPr>
        <p:txBody>
          <a:bodyPr wrap="none" lIns="0" tIns="0" rIns="0" bIns="0" rtlCol="0" anchor="t"/>
          <a:lstStyle/>
          <a:p>
            <a:pPr algn="l" indent="0" marL="0">
              <a:lnSpc>
                <a:spcPts val="4300"/>
              </a:lnSpc>
              <a:buNone/>
            </a:pPr>
            <a:r>
              <a:rPr lang="en-US" sz="3450" b="1" dirty="0">
                <a:solidFill>
                  <a:srgbClr val="F95F88"/>
                </a:solidFill>
                <a:latin typeface="Petrona Bold" pitchFamily="34" charset="0"/>
                <a:ea typeface="Petrona Bold" pitchFamily="34" charset="-122"/>
                <a:cs typeface="Petrona Bold" pitchFamily="34" charset="-120"/>
              </a:rPr>
              <a:t>Navigating Challenges: Solutions &amp; Adaptability</a:t>
            </a:r>
            <a:endParaRPr lang="en-US" sz="3450" dirty="0"/>
          </a:p>
        </p:txBody>
      </p:sp>
      <p:sp>
        <p:nvSpPr>
          <p:cNvPr id="3" name="Text 1"/>
          <p:cNvSpPr/>
          <p:nvPr/>
        </p:nvSpPr>
        <p:spPr>
          <a:xfrm>
            <a:off x="755333" y="1521857"/>
            <a:ext cx="13119735" cy="513398"/>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The journey of building and scaling a platform like AIIP has presented its share of significant challenges. However, through strategic problem-solving and an agile approach, we have successfully implemented effective solutions to ensure the program's continued growth and impact.</a:t>
            </a:r>
            <a:endParaRPr lang="en-US" sz="1250" dirty="0"/>
          </a:p>
        </p:txBody>
      </p:sp>
      <p:sp>
        <p:nvSpPr>
          <p:cNvPr id="4" name="Text 2"/>
          <p:cNvSpPr/>
          <p:nvPr/>
        </p:nvSpPr>
        <p:spPr>
          <a:xfrm>
            <a:off x="755333" y="2376249"/>
            <a:ext cx="2957036" cy="331113"/>
          </a:xfrm>
          <a:prstGeom prst="rect">
            <a:avLst/>
          </a:prstGeom>
          <a:noFill/>
          <a:ln/>
        </p:spPr>
        <p:txBody>
          <a:bodyPr wrap="none" lIns="0" tIns="0" rIns="0" bIns="0" rtlCol="0" anchor="t"/>
          <a:lstStyle/>
          <a:p>
            <a:pPr algn="l" indent="0" marL="0">
              <a:lnSpc>
                <a:spcPts val="2600"/>
              </a:lnSpc>
              <a:buNone/>
            </a:pPr>
            <a:r>
              <a:rPr lang="en-US" sz="2050" b="1" dirty="0">
                <a:solidFill>
                  <a:srgbClr val="F95F88"/>
                </a:solidFill>
                <a:latin typeface="Petrona Bold" pitchFamily="34" charset="0"/>
                <a:ea typeface="Petrona Bold" pitchFamily="34" charset="-122"/>
                <a:cs typeface="Petrona Bold" pitchFamily="34" charset="-120"/>
              </a:rPr>
              <a:t>Challenges Encountered</a:t>
            </a:r>
            <a:endParaRPr lang="en-US" sz="2050" dirty="0"/>
          </a:p>
        </p:txBody>
      </p:sp>
      <p:sp>
        <p:nvSpPr>
          <p:cNvPr id="5" name="Text 3"/>
          <p:cNvSpPr/>
          <p:nvPr/>
        </p:nvSpPr>
        <p:spPr>
          <a:xfrm>
            <a:off x="755333" y="2867858"/>
            <a:ext cx="6364129" cy="770096"/>
          </a:xfrm>
          <a:prstGeom prst="rect">
            <a:avLst/>
          </a:prstGeom>
          <a:noFill/>
          <a:ln/>
        </p:spPr>
        <p:txBody>
          <a:bodyPr wrap="square" lIns="0" tIns="0" rIns="0" bIns="0" rtlCol="0" anchor="t"/>
          <a:lstStyle/>
          <a:p>
            <a:pPr algn="l" marL="342900" indent="-342900">
              <a:lnSpc>
                <a:spcPts val="2000"/>
              </a:lnSpc>
              <a:buSzPct val="100000"/>
              <a:buChar char="•"/>
            </a:pPr>
            <a:r>
              <a:rPr lang="en-US" sz="1250" b="1" dirty="0">
                <a:solidFill>
                  <a:srgbClr val="272525"/>
                </a:solidFill>
                <a:latin typeface="Inter" pitchFamily="34" charset="0"/>
                <a:ea typeface="Inter" pitchFamily="34" charset="-122"/>
                <a:cs typeface="Inter" pitchFamily="34" charset="-120"/>
              </a:rPr>
              <a:t>Low Digital Literacy:</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A considerable segment of students, especially from rural backgrounds, exhibited varying levels of digital literacy, posing a barrier to seamless platform adoption and utilization.</a:t>
            </a:r>
            <a:endParaRPr lang="en-US" sz="1250" dirty="0"/>
          </a:p>
        </p:txBody>
      </p:sp>
      <p:sp>
        <p:nvSpPr>
          <p:cNvPr id="6" name="Text 4"/>
          <p:cNvSpPr/>
          <p:nvPr/>
        </p:nvSpPr>
        <p:spPr>
          <a:xfrm>
            <a:off x="755333" y="3694033"/>
            <a:ext cx="6364129" cy="770096"/>
          </a:xfrm>
          <a:prstGeom prst="rect">
            <a:avLst/>
          </a:prstGeom>
          <a:noFill/>
          <a:ln/>
        </p:spPr>
        <p:txBody>
          <a:bodyPr wrap="square" lIns="0" tIns="0" rIns="0" bIns="0" rtlCol="0" anchor="t"/>
          <a:lstStyle/>
          <a:p>
            <a:pPr algn="l" marL="342900" indent="-342900">
              <a:lnSpc>
                <a:spcPts val="2000"/>
              </a:lnSpc>
              <a:buSzPct val="100000"/>
              <a:buChar char="•"/>
            </a:pPr>
            <a:r>
              <a:rPr lang="en-US" sz="1250" b="1" dirty="0">
                <a:solidFill>
                  <a:srgbClr val="272525"/>
                </a:solidFill>
                <a:latin typeface="Inter" pitchFamily="34" charset="0"/>
                <a:ea typeface="Inter" pitchFamily="34" charset="-122"/>
                <a:cs typeface="Inter" pitchFamily="34" charset="-120"/>
              </a:rPr>
              <a:t>Managing High-Volume User Traffic:</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The rapid growth in student registrations and activity led to substantial user traffic, demanding robust infrastructure and efficient system performance to prevent bottlenecks.</a:t>
            </a:r>
            <a:endParaRPr lang="en-US" sz="1250" dirty="0"/>
          </a:p>
        </p:txBody>
      </p:sp>
      <p:sp>
        <p:nvSpPr>
          <p:cNvPr id="7" name="Text 5"/>
          <p:cNvSpPr/>
          <p:nvPr/>
        </p:nvSpPr>
        <p:spPr>
          <a:xfrm>
            <a:off x="755333" y="4520208"/>
            <a:ext cx="6364129" cy="770096"/>
          </a:xfrm>
          <a:prstGeom prst="rect">
            <a:avLst/>
          </a:prstGeom>
          <a:noFill/>
          <a:ln/>
        </p:spPr>
        <p:txBody>
          <a:bodyPr wrap="square" lIns="0" tIns="0" rIns="0" bIns="0" rtlCol="0" anchor="t"/>
          <a:lstStyle/>
          <a:p>
            <a:pPr algn="l" marL="342900" indent="-342900">
              <a:lnSpc>
                <a:spcPts val="2000"/>
              </a:lnSpc>
              <a:buSzPct val="100000"/>
              <a:buChar char="•"/>
            </a:pPr>
            <a:r>
              <a:rPr lang="en-US" sz="1250" b="1" dirty="0">
                <a:solidFill>
                  <a:srgbClr val="272525"/>
                </a:solidFill>
                <a:latin typeface="Inter" pitchFamily="34" charset="0"/>
                <a:ea typeface="Inter" pitchFamily="34" charset="-122"/>
                <a:cs typeface="Inter" pitchFamily="34" charset="-120"/>
              </a:rPr>
              <a:t>Competition with Established Platforms:</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Operating in a domain with well-funded and established internship platforms required a unique value proposition to attract and retain users.</a:t>
            </a:r>
            <a:endParaRPr lang="en-US" sz="1250" dirty="0"/>
          </a:p>
        </p:txBody>
      </p:sp>
      <p:sp>
        <p:nvSpPr>
          <p:cNvPr id="8" name="Text 6"/>
          <p:cNvSpPr/>
          <p:nvPr/>
        </p:nvSpPr>
        <p:spPr>
          <a:xfrm>
            <a:off x="7518559" y="2376249"/>
            <a:ext cx="2859524" cy="331113"/>
          </a:xfrm>
          <a:prstGeom prst="rect">
            <a:avLst/>
          </a:prstGeom>
          <a:noFill/>
          <a:ln/>
        </p:spPr>
        <p:txBody>
          <a:bodyPr wrap="none" lIns="0" tIns="0" rIns="0" bIns="0" rtlCol="0" anchor="t"/>
          <a:lstStyle/>
          <a:p>
            <a:pPr algn="l" indent="0" marL="0">
              <a:lnSpc>
                <a:spcPts val="2600"/>
              </a:lnSpc>
              <a:buNone/>
            </a:pPr>
            <a:r>
              <a:rPr lang="en-US" sz="2050" b="1" dirty="0">
                <a:solidFill>
                  <a:srgbClr val="F95F88"/>
                </a:solidFill>
                <a:latin typeface="Petrona Bold" pitchFamily="34" charset="0"/>
                <a:ea typeface="Petrona Bold" pitchFamily="34" charset="-122"/>
                <a:cs typeface="Petrona Bold" pitchFamily="34" charset="-120"/>
              </a:rPr>
              <a:t>Solutions Implemented</a:t>
            </a:r>
            <a:endParaRPr lang="en-US" sz="2050" dirty="0"/>
          </a:p>
        </p:txBody>
      </p:sp>
      <p:sp>
        <p:nvSpPr>
          <p:cNvPr id="9" name="Text 7"/>
          <p:cNvSpPr/>
          <p:nvPr/>
        </p:nvSpPr>
        <p:spPr>
          <a:xfrm>
            <a:off x="7518559" y="2867858"/>
            <a:ext cx="6364129" cy="1026795"/>
          </a:xfrm>
          <a:prstGeom prst="rect">
            <a:avLst/>
          </a:prstGeom>
          <a:noFill/>
          <a:ln/>
        </p:spPr>
        <p:txBody>
          <a:bodyPr wrap="square" lIns="0" tIns="0" rIns="0" bIns="0" rtlCol="0" anchor="t"/>
          <a:lstStyle/>
          <a:p>
            <a:pPr algn="l" marL="342900" indent="-342900">
              <a:lnSpc>
                <a:spcPts val="2000"/>
              </a:lnSpc>
              <a:buSzPct val="100000"/>
              <a:buChar char="•"/>
            </a:pPr>
            <a:r>
              <a:rPr lang="en-US" sz="1250" b="1" dirty="0">
                <a:solidFill>
                  <a:srgbClr val="272525"/>
                </a:solidFill>
                <a:latin typeface="Inter" pitchFamily="34" charset="0"/>
                <a:ea typeface="Inter" pitchFamily="34" charset="-122"/>
                <a:cs typeface="Inter" pitchFamily="34" charset="-120"/>
              </a:rPr>
              <a:t>Simplified UI &amp; Mobile-Friendly Design:</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We prioritized a highly intuitive and simplified user interface, coupled with a fully responsive and mobile-friendly design. This ensures accessibility and ease of use even for users with limited digital experience, enabling seamless interaction via smartphones.</a:t>
            </a:r>
            <a:endParaRPr lang="en-US" sz="1250" dirty="0"/>
          </a:p>
        </p:txBody>
      </p:sp>
      <p:sp>
        <p:nvSpPr>
          <p:cNvPr id="10" name="Text 8"/>
          <p:cNvSpPr/>
          <p:nvPr/>
        </p:nvSpPr>
        <p:spPr>
          <a:xfrm>
            <a:off x="7518559" y="3950732"/>
            <a:ext cx="6364129" cy="1283494"/>
          </a:xfrm>
          <a:prstGeom prst="rect">
            <a:avLst/>
          </a:prstGeom>
          <a:noFill/>
          <a:ln/>
        </p:spPr>
        <p:txBody>
          <a:bodyPr wrap="square" lIns="0" tIns="0" rIns="0" bIns="0" rtlCol="0" anchor="t"/>
          <a:lstStyle/>
          <a:p>
            <a:pPr algn="l" marL="342900" indent="-342900">
              <a:lnSpc>
                <a:spcPts val="2000"/>
              </a:lnSpc>
              <a:buSzPct val="100000"/>
              <a:buChar char="•"/>
            </a:pPr>
            <a:r>
              <a:rPr lang="en-US" sz="1250" b="1" dirty="0">
                <a:solidFill>
                  <a:srgbClr val="272525"/>
                </a:solidFill>
                <a:latin typeface="Inter" pitchFamily="34" charset="0"/>
                <a:ea typeface="Inter" pitchFamily="34" charset="-122"/>
                <a:cs typeface="Inter" pitchFamily="34" charset="-120"/>
              </a:rPr>
              <a:t>Agile Development with User Feedback:</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Embracing an agile development methodology allowed for continuous iteration and improvement. Crucially, we integrated a robust feedback loop with real users, ensuring that platform enhancements directly addressed pain points and optimized the user experience in real-time.</a:t>
            </a:r>
            <a:endParaRPr lang="en-US" sz="1250" dirty="0"/>
          </a:p>
        </p:txBody>
      </p:sp>
      <p:sp>
        <p:nvSpPr>
          <p:cNvPr id="11" name="Text 9"/>
          <p:cNvSpPr/>
          <p:nvPr/>
        </p:nvSpPr>
        <p:spPr>
          <a:xfrm>
            <a:off x="7518559" y="5290304"/>
            <a:ext cx="6364129" cy="1540193"/>
          </a:xfrm>
          <a:prstGeom prst="rect">
            <a:avLst/>
          </a:prstGeom>
          <a:noFill/>
          <a:ln/>
        </p:spPr>
        <p:txBody>
          <a:bodyPr wrap="square" lIns="0" tIns="0" rIns="0" bIns="0" rtlCol="0" anchor="t"/>
          <a:lstStyle/>
          <a:p>
            <a:pPr algn="l" marL="342900" indent="-342900">
              <a:lnSpc>
                <a:spcPts val="2000"/>
              </a:lnSpc>
              <a:buSzPct val="100000"/>
              <a:buChar char="•"/>
            </a:pPr>
            <a:r>
              <a:rPr lang="en-US" sz="1250" b="1" dirty="0">
                <a:solidFill>
                  <a:srgbClr val="272525"/>
                </a:solidFill>
                <a:latin typeface="Inter" pitchFamily="34" charset="0"/>
                <a:ea typeface="Inter" pitchFamily="34" charset="-122"/>
                <a:cs typeface="Inter" pitchFamily="34" charset="-120"/>
              </a:rPr>
              <a:t>Focus on Mentorship &amp; Structured Learning:</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Instead of competing purely on volume, AIIP strategically differentiated itself by emphasizing high-quality, mentor-led internships and structured learning pathways. This unique selling proposition has resonated deeply with students and institutions seeking meaningful, outcome-driven practical exposure, setting us apart from generic platforms.</a:t>
            </a:r>
            <a:endParaRPr lang="en-US" sz="1250" dirty="0"/>
          </a:p>
        </p:txBody>
      </p:sp>
      <p:sp>
        <p:nvSpPr>
          <p:cNvPr id="12" name="Text 10"/>
          <p:cNvSpPr/>
          <p:nvPr/>
        </p:nvSpPr>
        <p:spPr>
          <a:xfrm>
            <a:off x="755333" y="7067074"/>
            <a:ext cx="13119735" cy="513398"/>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These proactive measures and adaptive strategies have not only helped us overcome initial hurdles but have also strengthened AIIP's foundation, paving the way for sustainable growth and a broader impact.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47474" y="716161"/>
            <a:ext cx="11069836" cy="449580"/>
          </a:xfrm>
          <a:prstGeom prst="rect">
            <a:avLst/>
          </a:prstGeom>
          <a:noFill/>
          <a:ln/>
        </p:spPr>
        <p:txBody>
          <a:bodyPr wrap="none" lIns="0" tIns="0" rIns="0" bIns="0" rtlCol="0" anchor="t"/>
          <a:lstStyle/>
          <a:p>
            <a:pPr algn="l" indent="0" marL="0">
              <a:lnSpc>
                <a:spcPts val="3500"/>
              </a:lnSpc>
              <a:buNone/>
            </a:pPr>
            <a:r>
              <a:rPr lang="en-US" sz="2800" b="1" dirty="0">
                <a:solidFill>
                  <a:srgbClr val="F95F88"/>
                </a:solidFill>
                <a:latin typeface="Petrona Bold" pitchFamily="34" charset="0"/>
                <a:ea typeface="Petrona Bold" pitchFamily="34" charset="-122"/>
                <a:cs typeface="Petrona Bold" pitchFamily="34" charset="-120"/>
              </a:rPr>
              <a:t>Future Scope &amp; Visionary Roadmap: Shaping Tomorrow's Engineers</a:t>
            </a:r>
            <a:endParaRPr lang="en-US" sz="2800" dirty="0"/>
          </a:p>
        </p:txBody>
      </p:sp>
      <p:sp>
        <p:nvSpPr>
          <p:cNvPr id="3" name="Text 1"/>
          <p:cNvSpPr/>
          <p:nvPr/>
        </p:nvSpPr>
        <p:spPr>
          <a:xfrm>
            <a:off x="747474" y="1427321"/>
            <a:ext cx="13135451" cy="418624"/>
          </a:xfrm>
          <a:prstGeom prst="rect">
            <a:avLst/>
          </a:prstGeom>
          <a:noFill/>
          <a:ln/>
        </p:spPr>
        <p:txBody>
          <a:bodyPr wrap="squar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The journey of AIIP is one of continuous innovation and expansion. Our roadmap is designed to integrate cutting-edge technologies and forge strategic partnerships, cementing our position as India's premier internship platform.</a:t>
            </a:r>
            <a:endParaRPr lang="en-US" sz="1000" dirty="0"/>
          </a:p>
        </p:txBody>
      </p:sp>
      <p:sp>
        <p:nvSpPr>
          <p:cNvPr id="4" name="Text 2"/>
          <p:cNvSpPr/>
          <p:nvPr/>
        </p:nvSpPr>
        <p:spPr>
          <a:xfrm>
            <a:off x="747474" y="2042160"/>
            <a:ext cx="5496878" cy="269796"/>
          </a:xfrm>
          <a:prstGeom prst="rect">
            <a:avLst/>
          </a:prstGeom>
          <a:noFill/>
          <a:ln/>
        </p:spPr>
        <p:txBody>
          <a:bodyPr wrap="none" lIns="0" tIns="0" rIns="0" bIns="0" rtlCol="0" anchor="t"/>
          <a:lstStyle/>
          <a:p>
            <a:pPr algn="l" indent="0" marL="0">
              <a:lnSpc>
                <a:spcPts val="2100"/>
              </a:lnSpc>
              <a:buNone/>
            </a:pPr>
            <a:r>
              <a:rPr lang="en-US" sz="1650" b="1" dirty="0">
                <a:solidFill>
                  <a:srgbClr val="F95F88"/>
                </a:solidFill>
                <a:latin typeface="Petrona Bold" pitchFamily="34" charset="0"/>
                <a:ea typeface="Petrona Bold" pitchFamily="34" charset="-122"/>
                <a:cs typeface="Petrona Bold" pitchFamily="34" charset="-120"/>
              </a:rPr>
              <a:t>Planned Enhancements &amp; Technological Advancements</a:t>
            </a:r>
            <a:endParaRPr lang="en-US" sz="1650" dirty="0"/>
          </a:p>
        </p:txBody>
      </p:sp>
      <p:pic>
        <p:nvPicPr>
          <p:cNvPr id="5" name="Image 0" descr="preencoded.png">    </p:cNvPr>
          <p:cNvPicPr>
            <a:picLocks noChangeAspect="1"/>
          </p:cNvPicPr>
          <p:nvPr/>
        </p:nvPicPr>
        <p:blipFill>
          <a:blip r:embed="rId1"/>
          <a:stretch>
            <a:fillRect/>
          </a:stretch>
        </p:blipFill>
        <p:spPr>
          <a:xfrm>
            <a:off x="747474" y="2508171"/>
            <a:ext cx="654010" cy="784860"/>
          </a:xfrm>
          <a:prstGeom prst="rect">
            <a:avLst/>
          </a:prstGeom>
        </p:spPr>
      </p:pic>
      <p:sp>
        <p:nvSpPr>
          <p:cNvPr id="6" name="Text 3"/>
          <p:cNvSpPr/>
          <p:nvPr/>
        </p:nvSpPr>
        <p:spPr>
          <a:xfrm>
            <a:off x="1532215" y="2638901"/>
            <a:ext cx="2483287" cy="224790"/>
          </a:xfrm>
          <a:prstGeom prst="rect">
            <a:avLst/>
          </a:prstGeom>
          <a:noFill/>
          <a:ln/>
        </p:spPr>
        <p:txBody>
          <a:bodyPr wrap="none" lIns="0" tIns="0" rIns="0" bIns="0" rtlCol="0" anchor="t"/>
          <a:lstStyle/>
          <a:p>
            <a:pPr algn="l" indent="0" marL="0">
              <a:lnSpc>
                <a:spcPts val="1750"/>
              </a:lnSpc>
              <a:buNone/>
            </a:pPr>
            <a:r>
              <a:rPr lang="en-US" sz="1400" b="1" dirty="0">
                <a:solidFill>
                  <a:srgbClr val="272525"/>
                </a:solidFill>
                <a:latin typeface="Petrona Bold" pitchFamily="34" charset="0"/>
                <a:ea typeface="Petrona Bold" pitchFamily="34" charset="-122"/>
                <a:cs typeface="Petrona Bold" pitchFamily="34" charset="-120"/>
              </a:rPr>
              <a:t>AI-based Internship Matching</a:t>
            </a:r>
            <a:endParaRPr lang="en-US" sz="1400" dirty="0"/>
          </a:p>
        </p:txBody>
      </p:sp>
      <p:sp>
        <p:nvSpPr>
          <p:cNvPr id="7" name="Text 4"/>
          <p:cNvSpPr/>
          <p:nvPr/>
        </p:nvSpPr>
        <p:spPr>
          <a:xfrm>
            <a:off x="1532215" y="2942153"/>
            <a:ext cx="12350710" cy="209312"/>
          </a:xfrm>
          <a:prstGeom prst="rect">
            <a:avLst/>
          </a:prstGeom>
          <a:noFill/>
          <a:ln/>
        </p:spPr>
        <p:txBody>
          <a:bodyPr wrap="non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Leveraging artificial intelligence to intelligently match students with internships based on their skills, interests, and career aspirations, ensuring optimal fit and maximizing learning outcomes.</a:t>
            </a:r>
            <a:endParaRPr lang="en-US" sz="1000" dirty="0"/>
          </a:p>
        </p:txBody>
      </p:sp>
      <p:pic>
        <p:nvPicPr>
          <p:cNvPr id="8" name="Image 1" descr="preencoded.png">    </p:cNvPr>
          <p:cNvPicPr>
            <a:picLocks noChangeAspect="1"/>
          </p:cNvPicPr>
          <p:nvPr/>
        </p:nvPicPr>
        <p:blipFill>
          <a:blip r:embed="rId2"/>
          <a:stretch>
            <a:fillRect/>
          </a:stretch>
        </p:blipFill>
        <p:spPr>
          <a:xfrm>
            <a:off x="747474" y="3293031"/>
            <a:ext cx="654010" cy="784860"/>
          </a:xfrm>
          <a:prstGeom prst="rect">
            <a:avLst/>
          </a:prstGeom>
        </p:spPr>
      </p:pic>
      <p:sp>
        <p:nvSpPr>
          <p:cNvPr id="9" name="Text 5"/>
          <p:cNvSpPr/>
          <p:nvPr/>
        </p:nvSpPr>
        <p:spPr>
          <a:xfrm>
            <a:off x="1532215" y="3423761"/>
            <a:ext cx="1824871" cy="224790"/>
          </a:xfrm>
          <a:prstGeom prst="rect">
            <a:avLst/>
          </a:prstGeom>
          <a:noFill/>
          <a:ln/>
        </p:spPr>
        <p:txBody>
          <a:bodyPr wrap="none" lIns="0" tIns="0" rIns="0" bIns="0" rtlCol="0" anchor="t"/>
          <a:lstStyle/>
          <a:p>
            <a:pPr algn="l" indent="0" marL="0">
              <a:lnSpc>
                <a:spcPts val="1750"/>
              </a:lnSpc>
              <a:buNone/>
            </a:pPr>
            <a:r>
              <a:rPr lang="en-US" sz="1400" b="1" dirty="0">
                <a:solidFill>
                  <a:srgbClr val="272525"/>
                </a:solidFill>
                <a:latin typeface="Petrona Bold" pitchFamily="34" charset="0"/>
                <a:ea typeface="Petrona Bold" pitchFamily="34" charset="-122"/>
                <a:cs typeface="Petrona Bold" pitchFamily="34" charset="-120"/>
              </a:rPr>
              <a:t>Dedicated Mobile App</a:t>
            </a:r>
            <a:endParaRPr lang="en-US" sz="1400" dirty="0"/>
          </a:p>
        </p:txBody>
      </p:sp>
      <p:sp>
        <p:nvSpPr>
          <p:cNvPr id="10" name="Text 6"/>
          <p:cNvSpPr/>
          <p:nvPr/>
        </p:nvSpPr>
        <p:spPr>
          <a:xfrm>
            <a:off x="1532215" y="3727013"/>
            <a:ext cx="12350710" cy="209312"/>
          </a:xfrm>
          <a:prstGeom prst="rect">
            <a:avLst/>
          </a:prstGeom>
          <a:noFill/>
          <a:ln/>
        </p:spPr>
        <p:txBody>
          <a:bodyPr wrap="non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Developing native Android and iOS applications to provide seamless, on-the-go access to the platform, enhancing user convenience and engagement.</a:t>
            </a:r>
            <a:endParaRPr lang="en-US" sz="1000" dirty="0"/>
          </a:p>
        </p:txBody>
      </p:sp>
      <p:pic>
        <p:nvPicPr>
          <p:cNvPr id="11" name="Image 2" descr="preencoded.png">    </p:cNvPr>
          <p:cNvPicPr>
            <a:picLocks noChangeAspect="1"/>
          </p:cNvPicPr>
          <p:nvPr/>
        </p:nvPicPr>
        <p:blipFill>
          <a:blip r:embed="rId3"/>
          <a:stretch>
            <a:fillRect/>
          </a:stretch>
        </p:blipFill>
        <p:spPr>
          <a:xfrm>
            <a:off x="747474" y="4077891"/>
            <a:ext cx="654010" cy="784860"/>
          </a:xfrm>
          <a:prstGeom prst="rect">
            <a:avLst/>
          </a:prstGeom>
        </p:spPr>
      </p:pic>
      <p:sp>
        <p:nvSpPr>
          <p:cNvPr id="12" name="Text 7"/>
          <p:cNvSpPr/>
          <p:nvPr/>
        </p:nvSpPr>
        <p:spPr>
          <a:xfrm>
            <a:off x="1532215" y="4208621"/>
            <a:ext cx="1834753" cy="224790"/>
          </a:xfrm>
          <a:prstGeom prst="rect">
            <a:avLst/>
          </a:prstGeom>
          <a:noFill/>
          <a:ln/>
        </p:spPr>
        <p:txBody>
          <a:bodyPr wrap="none" lIns="0" tIns="0" rIns="0" bIns="0" rtlCol="0" anchor="t"/>
          <a:lstStyle/>
          <a:p>
            <a:pPr algn="l" indent="0" marL="0">
              <a:lnSpc>
                <a:spcPts val="1750"/>
              </a:lnSpc>
              <a:buNone/>
            </a:pPr>
            <a:r>
              <a:rPr lang="en-US" sz="1400" b="1" dirty="0">
                <a:solidFill>
                  <a:srgbClr val="272525"/>
                </a:solidFill>
                <a:latin typeface="Petrona Bold" pitchFamily="34" charset="0"/>
                <a:ea typeface="Petrona Bold" pitchFamily="34" charset="-122"/>
                <a:cs typeface="Petrona Bold" pitchFamily="34" charset="-120"/>
              </a:rPr>
              <a:t>Gamification Features</a:t>
            </a:r>
            <a:endParaRPr lang="en-US" sz="1400" dirty="0"/>
          </a:p>
        </p:txBody>
      </p:sp>
      <p:sp>
        <p:nvSpPr>
          <p:cNvPr id="13" name="Text 8"/>
          <p:cNvSpPr/>
          <p:nvPr/>
        </p:nvSpPr>
        <p:spPr>
          <a:xfrm>
            <a:off x="1532215" y="4511873"/>
            <a:ext cx="12350710" cy="209312"/>
          </a:xfrm>
          <a:prstGeom prst="rect">
            <a:avLst/>
          </a:prstGeom>
          <a:noFill/>
          <a:ln/>
        </p:spPr>
        <p:txBody>
          <a:bodyPr wrap="non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Introducing engaging elements such as badges, leaderboards, and progress tracking to motivate students, foster healthy competition, and enhance the overall learning experience.</a:t>
            </a:r>
            <a:endParaRPr lang="en-US" sz="1000" dirty="0"/>
          </a:p>
        </p:txBody>
      </p:sp>
      <p:pic>
        <p:nvPicPr>
          <p:cNvPr id="14" name="Image 3" descr="preencoded.png">    </p:cNvPr>
          <p:cNvPicPr>
            <a:picLocks noChangeAspect="1"/>
          </p:cNvPicPr>
          <p:nvPr/>
        </p:nvPicPr>
        <p:blipFill>
          <a:blip r:embed="rId4"/>
          <a:stretch>
            <a:fillRect/>
          </a:stretch>
        </p:blipFill>
        <p:spPr>
          <a:xfrm>
            <a:off x="747474" y="4862751"/>
            <a:ext cx="654010" cy="784860"/>
          </a:xfrm>
          <a:prstGeom prst="rect">
            <a:avLst/>
          </a:prstGeom>
        </p:spPr>
      </p:pic>
      <p:sp>
        <p:nvSpPr>
          <p:cNvPr id="15" name="Text 9"/>
          <p:cNvSpPr/>
          <p:nvPr/>
        </p:nvSpPr>
        <p:spPr>
          <a:xfrm>
            <a:off x="1532215" y="4993481"/>
            <a:ext cx="1837968" cy="224790"/>
          </a:xfrm>
          <a:prstGeom prst="rect">
            <a:avLst/>
          </a:prstGeom>
          <a:noFill/>
          <a:ln/>
        </p:spPr>
        <p:txBody>
          <a:bodyPr wrap="none" lIns="0" tIns="0" rIns="0" bIns="0" rtlCol="0" anchor="t"/>
          <a:lstStyle/>
          <a:p>
            <a:pPr algn="l" indent="0" marL="0">
              <a:lnSpc>
                <a:spcPts val="1750"/>
              </a:lnSpc>
              <a:buNone/>
            </a:pPr>
            <a:r>
              <a:rPr lang="en-US" sz="1400" b="1" dirty="0">
                <a:solidFill>
                  <a:srgbClr val="272525"/>
                </a:solidFill>
                <a:latin typeface="Petrona Bold" pitchFamily="34" charset="0"/>
                <a:ea typeface="Petrona Bold" pitchFamily="34" charset="-122"/>
                <a:cs typeface="Petrona Bold" pitchFamily="34" charset="-120"/>
              </a:rPr>
              <a:t>Strategic Partnerships</a:t>
            </a:r>
            <a:endParaRPr lang="en-US" sz="1400" dirty="0"/>
          </a:p>
        </p:txBody>
      </p:sp>
      <p:sp>
        <p:nvSpPr>
          <p:cNvPr id="16" name="Text 10"/>
          <p:cNvSpPr/>
          <p:nvPr/>
        </p:nvSpPr>
        <p:spPr>
          <a:xfrm>
            <a:off x="1532215" y="5296733"/>
            <a:ext cx="12350710" cy="209312"/>
          </a:xfrm>
          <a:prstGeom prst="rect">
            <a:avLst/>
          </a:prstGeom>
          <a:noFill/>
          <a:ln/>
        </p:spPr>
        <p:txBody>
          <a:bodyPr wrap="non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Actively seeking collaborations with leading companies, innovative startups, and educational institutions to expand internship opportunities and diversify industry exposure for students.</a:t>
            </a:r>
            <a:endParaRPr lang="en-US" sz="1000" dirty="0"/>
          </a:p>
        </p:txBody>
      </p:sp>
      <p:pic>
        <p:nvPicPr>
          <p:cNvPr id="17" name="Image 4" descr="preencoded.png">    </p:cNvPr>
          <p:cNvPicPr>
            <a:picLocks noChangeAspect="1"/>
          </p:cNvPicPr>
          <p:nvPr/>
        </p:nvPicPr>
        <p:blipFill>
          <a:blip r:embed="rId5"/>
          <a:stretch>
            <a:fillRect/>
          </a:stretch>
        </p:blipFill>
        <p:spPr>
          <a:xfrm>
            <a:off x="747474" y="5647611"/>
            <a:ext cx="654010" cy="784860"/>
          </a:xfrm>
          <a:prstGeom prst="rect">
            <a:avLst/>
          </a:prstGeom>
        </p:spPr>
      </p:pic>
      <p:sp>
        <p:nvSpPr>
          <p:cNvPr id="18" name="Text 11"/>
          <p:cNvSpPr/>
          <p:nvPr/>
        </p:nvSpPr>
        <p:spPr>
          <a:xfrm>
            <a:off x="1532215" y="5778341"/>
            <a:ext cx="2641997" cy="224790"/>
          </a:xfrm>
          <a:prstGeom prst="rect">
            <a:avLst/>
          </a:prstGeom>
          <a:noFill/>
          <a:ln/>
        </p:spPr>
        <p:txBody>
          <a:bodyPr wrap="none" lIns="0" tIns="0" rIns="0" bIns="0" rtlCol="0" anchor="t"/>
          <a:lstStyle/>
          <a:p>
            <a:pPr algn="l" indent="0" marL="0">
              <a:lnSpc>
                <a:spcPts val="1750"/>
              </a:lnSpc>
              <a:buNone/>
            </a:pPr>
            <a:r>
              <a:rPr lang="en-US" sz="1400" b="1" dirty="0">
                <a:solidFill>
                  <a:srgbClr val="272525"/>
                </a:solidFill>
                <a:latin typeface="Petrona Bold" pitchFamily="34" charset="0"/>
                <a:ea typeface="Petrona Bold" pitchFamily="34" charset="-122"/>
                <a:cs typeface="Petrona Bold" pitchFamily="34" charset="-120"/>
              </a:rPr>
              <a:t>Advanced Analytics Dashboards</a:t>
            </a:r>
            <a:endParaRPr lang="en-US" sz="1400" dirty="0"/>
          </a:p>
        </p:txBody>
      </p:sp>
      <p:sp>
        <p:nvSpPr>
          <p:cNvPr id="19" name="Text 12"/>
          <p:cNvSpPr/>
          <p:nvPr/>
        </p:nvSpPr>
        <p:spPr>
          <a:xfrm>
            <a:off x="1532215" y="6081593"/>
            <a:ext cx="12350710" cy="209312"/>
          </a:xfrm>
          <a:prstGeom prst="rect">
            <a:avLst/>
          </a:prstGeom>
          <a:noFill/>
          <a:ln/>
        </p:spPr>
        <p:txBody>
          <a:bodyPr wrap="non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Implementing comprehensive analytics dashboards for administrators and mentors, providing deeper insights into program performance, student progress, and internship effectiveness.</a:t>
            </a:r>
            <a:endParaRPr lang="en-US" sz="1000" dirty="0"/>
          </a:p>
        </p:txBody>
      </p:sp>
      <p:sp>
        <p:nvSpPr>
          <p:cNvPr id="20" name="Text 13"/>
          <p:cNvSpPr/>
          <p:nvPr/>
        </p:nvSpPr>
        <p:spPr>
          <a:xfrm>
            <a:off x="747474" y="6628686"/>
            <a:ext cx="5559028" cy="269796"/>
          </a:xfrm>
          <a:prstGeom prst="rect">
            <a:avLst/>
          </a:prstGeom>
          <a:noFill/>
          <a:ln/>
        </p:spPr>
        <p:txBody>
          <a:bodyPr wrap="none" lIns="0" tIns="0" rIns="0" bIns="0" rtlCol="0" anchor="t"/>
          <a:lstStyle/>
          <a:p>
            <a:pPr algn="l" indent="0" marL="0">
              <a:lnSpc>
                <a:spcPts val="2100"/>
              </a:lnSpc>
              <a:buNone/>
            </a:pPr>
            <a:r>
              <a:rPr lang="en-US" sz="1650" b="1" dirty="0">
                <a:solidFill>
                  <a:srgbClr val="F95F88"/>
                </a:solidFill>
                <a:latin typeface="Petrona Bold" pitchFamily="34" charset="0"/>
                <a:ea typeface="Petrona Bold" pitchFamily="34" charset="-122"/>
                <a:cs typeface="Petrona Bold" pitchFamily="34" charset="-120"/>
              </a:rPr>
              <a:t>Our Vision: India's Leading Internship Platform by 2030</a:t>
            </a:r>
            <a:endParaRPr lang="en-US" sz="1650" dirty="0"/>
          </a:p>
        </p:txBody>
      </p:sp>
      <p:sp>
        <p:nvSpPr>
          <p:cNvPr id="21" name="Text 14"/>
          <p:cNvSpPr/>
          <p:nvPr/>
        </p:nvSpPr>
        <p:spPr>
          <a:xfrm>
            <a:off x="747474" y="7094696"/>
            <a:ext cx="13135451" cy="418624"/>
          </a:xfrm>
          <a:prstGeom prst="rect">
            <a:avLst/>
          </a:prstGeom>
          <a:noFill/>
          <a:ln/>
        </p:spPr>
        <p:txBody>
          <a:bodyPr wrap="squar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Our long-term vision for AIIP is ambitious yet attainable: to become India's unequivocal leading internship platform, meticulously cultivating a talent pipeline of career-ready engineers by the year 2030. We are committed to fostering a culture of practical learning, innovation, and industry readiness, thereby empowering a generation of engineers to drive India's technological and economic growth.</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2025-07-19T07:42:39Z</dcterms:created>
  <dcterms:modified xsi:type="dcterms:W3CDTF">2025-07-19T07:42:39Z</dcterms:modified>
</cp:coreProperties>
</file>