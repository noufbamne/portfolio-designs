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0"/>
  </p:notesMasterIdLst>
  <p:sldIdLst>
    <p:sldId id="256" r:id="rId6"/>
    <p:sldId id="257" r:id="rId7"/>
    <p:sldId id="258" r:id="rId8"/>
    <p:sldId id="259" r:id="rId9"/>
  </p:sldIdLst>
  <p:sldSz cx="18288000" cy="10287000"/>
  <p:notesSz cx="6858000" cy="9144000"/>
  <p:embeddedFontLst>
    <p:embeddedFont>
      <p:font typeface="Calibri (MS) Bold" charset="1" panose="020F0702030404030204"/>
      <p:regular r:id="rId13"/>
    </p:embeddedFont>
    <p:embeddedFont>
      <p:font typeface="Calibri (MS)" charset="1" panose="020F0502020204030204"/>
      <p:regular r:id="rId14"/>
    </p:embeddedFont>
    <p:embeddedFont>
      <p:font typeface="Arial Bold" charset="1" panose="020B0802020202020204"/>
      <p:regular r:id="rId15"/>
    </p:embeddedFont>
    <p:embeddedFont>
      <p:font typeface="Poppins Bold" charset="1" panose="0000080000000000000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notesMasters/notesMaster1.xml" Type="http://schemas.openxmlformats.org/officeDocument/2006/relationships/notesMaster"/><Relationship Id="rId11" Target="theme/theme2.xml" Type="http://schemas.openxmlformats.org/officeDocument/2006/relationships/theme"/><Relationship Id="rId12" Target="notesSlides/notesSlide1.xml" Type="http://schemas.openxmlformats.org/officeDocument/2006/relationships/notes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notesSlides/notesSlide2.xml" Type="http://schemas.openxmlformats.org/officeDocument/2006/relationships/notesSlide"/><Relationship Id="rId18" Target="notesSlides/notesSlide3.xml" Type="http://schemas.openxmlformats.org/officeDocument/2006/relationships/notesSlide"/><Relationship Id="rId19" Target="notesSlides/notesSlide4.xml" Type="http://schemas.openxmlformats.org/officeDocument/2006/relationships/notes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.png" Type="http://schemas.openxmlformats.org/officeDocument/2006/relationships/image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Relationship Id="rId7" Target="../media/image5.png" Type="http://schemas.openxmlformats.org/officeDocument/2006/relationships/image"/><Relationship Id="rId8" Target="../media/image6.png" Type="http://schemas.openxmlformats.org/officeDocument/2006/relationships/image"/><Relationship Id="rId9" Target="../media/image7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9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10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1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" y="9601200"/>
            <a:ext cx="18288000" cy="685800"/>
            <a:chOff x="0" y="0"/>
            <a:chExt cx="24384000" cy="914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914400"/>
            </a:xfrm>
            <a:custGeom>
              <a:avLst/>
              <a:gdLst/>
              <a:ahLst/>
              <a:cxnLst/>
              <a:rect r="r" b="b" t="t" l="l"/>
              <a:pathLst>
                <a:path h="9144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BD582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" y="9501474"/>
            <a:ext cx="18288002" cy="98997"/>
            <a:chOff x="0" y="0"/>
            <a:chExt cx="24384003" cy="1319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1953"/>
            </a:xfrm>
            <a:custGeom>
              <a:avLst/>
              <a:gdLst/>
              <a:ahLst/>
              <a:cxnLst/>
              <a:rect r="r" b="b" t="t" l="l"/>
              <a:pathLst>
                <a:path h="131953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1953"/>
                  </a:lnTo>
                  <a:lnTo>
                    <a:pt x="0" y="131953"/>
                  </a:lnTo>
                  <a:close/>
                </a:path>
              </a:pathLst>
            </a:custGeom>
            <a:solidFill>
              <a:srgbClr val="E48312"/>
            </a:solidFill>
          </p:spPr>
        </p:sp>
      </p:grpSp>
      <p:sp>
        <p:nvSpPr>
          <p:cNvPr name="AutoShape 6" id="6"/>
          <p:cNvSpPr/>
          <p:nvPr/>
        </p:nvSpPr>
        <p:spPr>
          <a:xfrm rot="2188">
            <a:off x="1785534" y="2606768"/>
            <a:ext cx="14959968" cy="0"/>
          </a:xfrm>
          <a:prstGeom prst="line">
            <a:avLst/>
          </a:prstGeom>
          <a:ln cap="rnd" w="9525">
            <a:solidFill>
              <a:srgbClr val="7F7F7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4763" y="9601200"/>
            <a:ext cx="18283238" cy="685800"/>
            <a:chOff x="0" y="0"/>
            <a:chExt cx="24377651" cy="9144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4377650" cy="914400"/>
            </a:xfrm>
            <a:custGeom>
              <a:avLst/>
              <a:gdLst/>
              <a:ahLst/>
              <a:cxnLst/>
              <a:rect r="r" b="b" t="t" l="l"/>
              <a:pathLst>
                <a:path h="914400" w="24377650">
                  <a:moveTo>
                    <a:pt x="0" y="0"/>
                  </a:moveTo>
                  <a:lnTo>
                    <a:pt x="24377650" y="0"/>
                  </a:lnTo>
                  <a:lnTo>
                    <a:pt x="2437765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BD582C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23" y="9501474"/>
            <a:ext cx="18283238" cy="96012"/>
            <a:chOff x="0" y="0"/>
            <a:chExt cx="24377651" cy="12801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4377650" cy="128016"/>
            </a:xfrm>
            <a:custGeom>
              <a:avLst/>
              <a:gdLst/>
              <a:ahLst/>
              <a:cxnLst/>
              <a:rect r="r" b="b" t="t" l="l"/>
              <a:pathLst>
                <a:path h="128016" w="24377650">
                  <a:moveTo>
                    <a:pt x="0" y="0"/>
                  </a:moveTo>
                  <a:lnTo>
                    <a:pt x="24377650" y="0"/>
                  </a:lnTo>
                  <a:lnTo>
                    <a:pt x="24377650" y="128016"/>
                  </a:lnTo>
                  <a:lnTo>
                    <a:pt x="0" y="128016"/>
                  </a:lnTo>
                  <a:close/>
                </a:path>
              </a:pathLst>
            </a:custGeom>
            <a:solidFill>
              <a:srgbClr val="E48312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304800" y="197607"/>
            <a:ext cx="696538" cy="1004095"/>
            <a:chOff x="0" y="0"/>
            <a:chExt cx="928718" cy="133879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28751" cy="1338834"/>
            </a:xfrm>
            <a:custGeom>
              <a:avLst/>
              <a:gdLst/>
              <a:ahLst/>
              <a:cxnLst/>
              <a:rect r="r" b="b" t="t" l="l"/>
              <a:pathLst>
                <a:path h="1338834" w="928751">
                  <a:moveTo>
                    <a:pt x="0" y="0"/>
                  </a:moveTo>
                  <a:lnTo>
                    <a:pt x="928751" y="0"/>
                  </a:lnTo>
                  <a:lnTo>
                    <a:pt x="928751" y="1338834"/>
                  </a:lnTo>
                  <a:lnTo>
                    <a:pt x="0" y="13388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730" r="3" b="-727"/>
              </a:stretch>
            </a:blipFill>
          </p:spPr>
        </p:sp>
      </p:grpSp>
      <p:sp>
        <p:nvSpPr>
          <p:cNvPr name="AutoShape 13" id="13"/>
          <p:cNvSpPr/>
          <p:nvPr/>
        </p:nvSpPr>
        <p:spPr>
          <a:xfrm rot="5244800">
            <a:off x="673471" y="702632"/>
            <a:ext cx="1067967" cy="0"/>
          </a:xfrm>
          <a:prstGeom prst="line">
            <a:avLst/>
          </a:prstGeom>
          <a:ln cap="rnd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4" id="14" descr="C:\Users\ADMIN\Downloads\Tab Logo.png"/>
          <p:cNvSpPr/>
          <p:nvPr/>
        </p:nvSpPr>
        <p:spPr>
          <a:xfrm flipH="false" flipV="false" rot="0">
            <a:off x="1312863" y="157325"/>
            <a:ext cx="2418594" cy="1135513"/>
          </a:xfrm>
          <a:custGeom>
            <a:avLst/>
            <a:gdLst/>
            <a:ahLst/>
            <a:cxnLst/>
            <a:rect r="r" b="b" t="t" l="l"/>
            <a:pathLst>
              <a:path h="1135513" w="2418594">
                <a:moveTo>
                  <a:pt x="0" y="0"/>
                </a:moveTo>
                <a:lnTo>
                  <a:pt x="2418594" y="0"/>
                </a:lnTo>
                <a:lnTo>
                  <a:pt x="2418594" y="1135513"/>
                </a:lnTo>
                <a:lnTo>
                  <a:pt x="0" y="11355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261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14912940" y="266700"/>
            <a:ext cx="3146460" cy="891497"/>
            <a:chOff x="0" y="0"/>
            <a:chExt cx="4195280" cy="118866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195318" cy="1188720"/>
            </a:xfrm>
            <a:custGeom>
              <a:avLst/>
              <a:gdLst/>
              <a:ahLst/>
              <a:cxnLst/>
              <a:rect r="r" b="b" t="t" l="l"/>
              <a:pathLst>
                <a:path h="1188720" w="4195318">
                  <a:moveTo>
                    <a:pt x="0" y="0"/>
                  </a:moveTo>
                  <a:lnTo>
                    <a:pt x="4195318" y="0"/>
                  </a:lnTo>
                  <a:lnTo>
                    <a:pt x="4195318" y="1188720"/>
                  </a:lnTo>
                  <a:lnTo>
                    <a:pt x="0" y="11887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4"/>
              </a:stretch>
            </a:blipFill>
          </p:spPr>
        </p:sp>
      </p:grpSp>
      <p:sp>
        <p:nvSpPr>
          <p:cNvPr name="AutoShape 17" id="17"/>
          <p:cNvSpPr/>
          <p:nvPr/>
        </p:nvSpPr>
        <p:spPr>
          <a:xfrm rot="5296">
            <a:off x="825490" y="1400175"/>
            <a:ext cx="16484620" cy="0"/>
          </a:xfrm>
          <a:prstGeom prst="line">
            <a:avLst/>
          </a:prstGeom>
          <a:ln cap="rnd" w="19050">
            <a:solidFill>
              <a:srgbClr val="E4831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 rot="5387453">
            <a:off x="5435577" y="5476875"/>
            <a:ext cx="6959646" cy="0"/>
          </a:xfrm>
          <a:prstGeom prst="line">
            <a:avLst/>
          </a:prstGeom>
          <a:ln cap="rnd" w="19050">
            <a:solidFill>
              <a:srgbClr val="E4831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9" id="19"/>
          <p:cNvSpPr txBox="true"/>
          <p:nvPr/>
        </p:nvSpPr>
        <p:spPr>
          <a:xfrm rot="0">
            <a:off x="4053825" y="388600"/>
            <a:ext cx="9494550" cy="6926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b="true" sz="40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The Team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457857" y="4534025"/>
            <a:ext cx="2131050" cy="875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04"/>
              </a:lnSpc>
            </a:pPr>
            <a:r>
              <a:rPr lang="en-US" b="true" sz="16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Sagar Shinde</a:t>
            </a:r>
          </a:p>
          <a:p>
            <a:pPr algn="ctr">
              <a:lnSpc>
                <a:spcPts val="2303"/>
              </a:lnSpc>
            </a:pPr>
            <a:r>
              <a:rPr lang="en-US" b="true" sz="15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Team Leader</a:t>
            </a:r>
          </a:p>
          <a:p>
            <a:pPr algn="ctr">
              <a:lnSpc>
                <a:spcPts val="2303"/>
              </a:lnSpc>
            </a:pPr>
            <a:r>
              <a:rPr lang="en-US" b="true" sz="15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CEO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2934558" y="3083434"/>
            <a:ext cx="1240858" cy="1269103"/>
            <a:chOff x="0" y="0"/>
            <a:chExt cx="1654477" cy="1692137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10541" y="10541"/>
              <a:ext cx="1633347" cy="1671066"/>
            </a:xfrm>
            <a:custGeom>
              <a:avLst/>
              <a:gdLst/>
              <a:ahLst/>
              <a:cxnLst/>
              <a:rect r="r" b="b" t="t" l="l"/>
              <a:pathLst>
                <a:path h="1671066" w="1633347">
                  <a:moveTo>
                    <a:pt x="0" y="0"/>
                  </a:moveTo>
                  <a:lnTo>
                    <a:pt x="1633347" y="0"/>
                  </a:lnTo>
                  <a:lnTo>
                    <a:pt x="1633347" y="1671066"/>
                  </a:lnTo>
                  <a:lnTo>
                    <a:pt x="0" y="1671066"/>
                  </a:lnTo>
                  <a:close/>
                </a:path>
              </a:pathLst>
            </a:custGeom>
            <a:solidFill>
              <a:srgbClr val="7F7F7F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654429" cy="1692148"/>
            </a:xfrm>
            <a:custGeom>
              <a:avLst/>
              <a:gdLst/>
              <a:ahLst/>
              <a:cxnLst/>
              <a:rect r="r" b="b" t="t" l="l"/>
              <a:pathLst>
                <a:path h="1692148" w="1654429">
                  <a:moveTo>
                    <a:pt x="10541" y="0"/>
                  </a:moveTo>
                  <a:lnTo>
                    <a:pt x="1643888" y="0"/>
                  </a:lnTo>
                  <a:cubicBezTo>
                    <a:pt x="1649730" y="0"/>
                    <a:pt x="1654429" y="4699"/>
                    <a:pt x="1654429" y="10541"/>
                  </a:cubicBezTo>
                  <a:lnTo>
                    <a:pt x="1654429" y="1681607"/>
                  </a:lnTo>
                  <a:cubicBezTo>
                    <a:pt x="1654429" y="1687449"/>
                    <a:pt x="1649730" y="1692148"/>
                    <a:pt x="1643888" y="1692148"/>
                  </a:cubicBezTo>
                  <a:lnTo>
                    <a:pt x="10541" y="1692148"/>
                  </a:lnTo>
                  <a:cubicBezTo>
                    <a:pt x="4699" y="1692148"/>
                    <a:pt x="0" y="1687449"/>
                    <a:pt x="0" y="1681607"/>
                  </a:cubicBezTo>
                  <a:lnTo>
                    <a:pt x="0" y="10541"/>
                  </a:lnTo>
                  <a:cubicBezTo>
                    <a:pt x="0" y="4699"/>
                    <a:pt x="4699" y="0"/>
                    <a:pt x="10541" y="0"/>
                  </a:cubicBezTo>
                  <a:moveTo>
                    <a:pt x="10541" y="21209"/>
                  </a:moveTo>
                  <a:lnTo>
                    <a:pt x="10541" y="10541"/>
                  </a:lnTo>
                  <a:lnTo>
                    <a:pt x="21082" y="10541"/>
                  </a:lnTo>
                  <a:lnTo>
                    <a:pt x="21082" y="1681607"/>
                  </a:lnTo>
                  <a:lnTo>
                    <a:pt x="10541" y="1681607"/>
                  </a:lnTo>
                  <a:lnTo>
                    <a:pt x="10541" y="1671066"/>
                  </a:lnTo>
                  <a:lnTo>
                    <a:pt x="1643888" y="1671066"/>
                  </a:lnTo>
                  <a:lnTo>
                    <a:pt x="1643888" y="1681607"/>
                  </a:lnTo>
                  <a:lnTo>
                    <a:pt x="1633347" y="1681607"/>
                  </a:lnTo>
                  <a:lnTo>
                    <a:pt x="1633347" y="10541"/>
                  </a:lnTo>
                  <a:lnTo>
                    <a:pt x="1643888" y="10541"/>
                  </a:lnTo>
                  <a:lnTo>
                    <a:pt x="1643888" y="21082"/>
                  </a:lnTo>
                  <a:lnTo>
                    <a:pt x="10541" y="21082"/>
                  </a:lnTo>
                  <a:close/>
                </a:path>
              </a:pathLst>
            </a:custGeom>
            <a:solidFill>
              <a:srgbClr val="A65F0D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1654477" cy="17302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Member Picture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4798026" y="8191353"/>
            <a:ext cx="2131050" cy="609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04"/>
              </a:lnSpc>
            </a:pPr>
            <a:r>
              <a:rPr lang="en-US" b="true" sz="16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Dr. Navin Khandare</a:t>
            </a:r>
          </a:p>
          <a:p>
            <a:pPr algn="ctr">
              <a:lnSpc>
                <a:spcPts val="2304"/>
              </a:lnSpc>
            </a:pPr>
            <a:r>
              <a:rPr lang="en-US" b="true" sz="16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Guide / Mentor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5274727" y="6836237"/>
            <a:ext cx="1240775" cy="1268975"/>
            <a:chOff x="0" y="0"/>
            <a:chExt cx="1654367" cy="1691967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10541" y="10541"/>
              <a:ext cx="1633220" cy="1670812"/>
            </a:xfrm>
            <a:custGeom>
              <a:avLst/>
              <a:gdLst/>
              <a:ahLst/>
              <a:cxnLst/>
              <a:rect r="r" b="b" t="t" l="l"/>
              <a:pathLst>
                <a:path h="1670812" w="1633220">
                  <a:moveTo>
                    <a:pt x="0" y="0"/>
                  </a:moveTo>
                  <a:lnTo>
                    <a:pt x="1633220" y="0"/>
                  </a:lnTo>
                  <a:lnTo>
                    <a:pt x="1633220" y="1670812"/>
                  </a:lnTo>
                  <a:lnTo>
                    <a:pt x="0" y="167081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654302" cy="1691894"/>
            </a:xfrm>
            <a:custGeom>
              <a:avLst/>
              <a:gdLst/>
              <a:ahLst/>
              <a:cxnLst/>
              <a:rect r="r" b="b" t="t" l="l"/>
              <a:pathLst>
                <a:path h="1691894" w="1654302">
                  <a:moveTo>
                    <a:pt x="10541" y="0"/>
                  </a:moveTo>
                  <a:lnTo>
                    <a:pt x="1643761" y="0"/>
                  </a:lnTo>
                  <a:cubicBezTo>
                    <a:pt x="1649603" y="0"/>
                    <a:pt x="1654302" y="4699"/>
                    <a:pt x="1654302" y="10541"/>
                  </a:cubicBezTo>
                  <a:lnTo>
                    <a:pt x="1654302" y="1681353"/>
                  </a:lnTo>
                  <a:cubicBezTo>
                    <a:pt x="1654302" y="1687195"/>
                    <a:pt x="1649603" y="1691894"/>
                    <a:pt x="1643761" y="1691894"/>
                  </a:cubicBezTo>
                  <a:lnTo>
                    <a:pt x="10541" y="1691894"/>
                  </a:lnTo>
                  <a:cubicBezTo>
                    <a:pt x="4699" y="1691894"/>
                    <a:pt x="0" y="1687195"/>
                    <a:pt x="0" y="1681353"/>
                  </a:cubicBezTo>
                  <a:lnTo>
                    <a:pt x="0" y="10541"/>
                  </a:lnTo>
                  <a:cubicBezTo>
                    <a:pt x="0" y="4699"/>
                    <a:pt x="4699" y="0"/>
                    <a:pt x="10541" y="0"/>
                  </a:cubicBezTo>
                  <a:moveTo>
                    <a:pt x="10541" y="21209"/>
                  </a:moveTo>
                  <a:lnTo>
                    <a:pt x="10541" y="10541"/>
                  </a:lnTo>
                  <a:lnTo>
                    <a:pt x="21082" y="10541"/>
                  </a:lnTo>
                  <a:lnTo>
                    <a:pt x="21082" y="1681353"/>
                  </a:lnTo>
                  <a:lnTo>
                    <a:pt x="10541" y="1681353"/>
                  </a:lnTo>
                  <a:lnTo>
                    <a:pt x="10541" y="1670812"/>
                  </a:lnTo>
                  <a:lnTo>
                    <a:pt x="1643761" y="1670812"/>
                  </a:lnTo>
                  <a:lnTo>
                    <a:pt x="1643761" y="1681353"/>
                  </a:lnTo>
                  <a:lnTo>
                    <a:pt x="1633220" y="1681353"/>
                  </a:lnTo>
                  <a:lnTo>
                    <a:pt x="1633220" y="10541"/>
                  </a:lnTo>
                  <a:lnTo>
                    <a:pt x="1643761" y="10541"/>
                  </a:lnTo>
                  <a:lnTo>
                    <a:pt x="1643761" y="21082"/>
                  </a:lnTo>
                  <a:lnTo>
                    <a:pt x="10541" y="21082"/>
                  </a:lnTo>
                  <a:close/>
                </a:path>
              </a:pathLst>
            </a:custGeom>
            <a:solidFill>
              <a:srgbClr val="A65F0D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1654367" cy="17300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Mentor/ Guide Picture</a:t>
              </a: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14912940" y="5560884"/>
            <a:ext cx="2131050" cy="5894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04"/>
              </a:lnSpc>
            </a:pPr>
            <a:r>
              <a:rPr lang="en-US" b="true" sz="16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Sangmeshwar Gurushete</a:t>
            </a:r>
          </a:p>
          <a:p>
            <a:pPr algn="ctr">
              <a:lnSpc>
                <a:spcPts val="2303"/>
              </a:lnSpc>
            </a:pPr>
            <a:r>
              <a:rPr lang="en-US" sz="15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COO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15389641" y="4205768"/>
            <a:ext cx="1240775" cy="1268975"/>
            <a:chOff x="0" y="0"/>
            <a:chExt cx="1654367" cy="1691967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10541" y="10541"/>
              <a:ext cx="1633220" cy="1670812"/>
            </a:xfrm>
            <a:custGeom>
              <a:avLst/>
              <a:gdLst/>
              <a:ahLst/>
              <a:cxnLst/>
              <a:rect r="r" b="b" t="t" l="l"/>
              <a:pathLst>
                <a:path h="1670812" w="1633220">
                  <a:moveTo>
                    <a:pt x="0" y="0"/>
                  </a:moveTo>
                  <a:lnTo>
                    <a:pt x="1633220" y="0"/>
                  </a:lnTo>
                  <a:lnTo>
                    <a:pt x="1633220" y="1670812"/>
                  </a:lnTo>
                  <a:lnTo>
                    <a:pt x="0" y="167081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654302" cy="1691894"/>
            </a:xfrm>
            <a:custGeom>
              <a:avLst/>
              <a:gdLst/>
              <a:ahLst/>
              <a:cxnLst/>
              <a:rect r="r" b="b" t="t" l="l"/>
              <a:pathLst>
                <a:path h="1691894" w="1654302">
                  <a:moveTo>
                    <a:pt x="10541" y="0"/>
                  </a:moveTo>
                  <a:lnTo>
                    <a:pt x="1643761" y="0"/>
                  </a:lnTo>
                  <a:cubicBezTo>
                    <a:pt x="1649603" y="0"/>
                    <a:pt x="1654302" y="4699"/>
                    <a:pt x="1654302" y="10541"/>
                  </a:cubicBezTo>
                  <a:lnTo>
                    <a:pt x="1654302" y="1681353"/>
                  </a:lnTo>
                  <a:cubicBezTo>
                    <a:pt x="1654302" y="1687195"/>
                    <a:pt x="1649603" y="1691894"/>
                    <a:pt x="1643761" y="1691894"/>
                  </a:cubicBezTo>
                  <a:lnTo>
                    <a:pt x="10541" y="1691894"/>
                  </a:lnTo>
                  <a:cubicBezTo>
                    <a:pt x="4699" y="1691894"/>
                    <a:pt x="0" y="1687195"/>
                    <a:pt x="0" y="1681353"/>
                  </a:cubicBezTo>
                  <a:lnTo>
                    <a:pt x="0" y="10541"/>
                  </a:lnTo>
                  <a:cubicBezTo>
                    <a:pt x="0" y="4699"/>
                    <a:pt x="4699" y="0"/>
                    <a:pt x="10541" y="0"/>
                  </a:cubicBezTo>
                  <a:moveTo>
                    <a:pt x="10541" y="21209"/>
                  </a:moveTo>
                  <a:lnTo>
                    <a:pt x="10541" y="10541"/>
                  </a:lnTo>
                  <a:lnTo>
                    <a:pt x="21082" y="10541"/>
                  </a:lnTo>
                  <a:lnTo>
                    <a:pt x="21082" y="1681353"/>
                  </a:lnTo>
                  <a:lnTo>
                    <a:pt x="10541" y="1681353"/>
                  </a:lnTo>
                  <a:lnTo>
                    <a:pt x="10541" y="1670812"/>
                  </a:lnTo>
                  <a:lnTo>
                    <a:pt x="1643761" y="1670812"/>
                  </a:lnTo>
                  <a:lnTo>
                    <a:pt x="1643761" y="1681353"/>
                  </a:lnTo>
                  <a:lnTo>
                    <a:pt x="1633220" y="1681353"/>
                  </a:lnTo>
                  <a:lnTo>
                    <a:pt x="1633220" y="10541"/>
                  </a:lnTo>
                  <a:lnTo>
                    <a:pt x="1643761" y="10541"/>
                  </a:lnTo>
                  <a:lnTo>
                    <a:pt x="1643761" y="21082"/>
                  </a:lnTo>
                  <a:lnTo>
                    <a:pt x="10541" y="21082"/>
                  </a:lnTo>
                  <a:close/>
                </a:path>
              </a:pathLst>
            </a:custGeom>
            <a:solidFill>
              <a:srgbClr val="A65F0D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1654367" cy="17300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Team Leader Picture</a:t>
              </a:r>
            </a:p>
          </p:txBody>
        </p:sp>
      </p:grpSp>
      <p:sp>
        <p:nvSpPr>
          <p:cNvPr name="Freeform 35" id="35"/>
          <p:cNvSpPr/>
          <p:nvPr/>
        </p:nvSpPr>
        <p:spPr>
          <a:xfrm flipH="false" flipV="false" rot="0">
            <a:off x="15374021" y="4186449"/>
            <a:ext cx="1262912" cy="1274150"/>
          </a:xfrm>
          <a:custGeom>
            <a:avLst/>
            <a:gdLst/>
            <a:ahLst/>
            <a:cxnLst/>
            <a:rect r="r" b="b" t="t" l="l"/>
            <a:pathLst>
              <a:path h="1274150" w="1262912">
                <a:moveTo>
                  <a:pt x="0" y="0"/>
                </a:moveTo>
                <a:lnTo>
                  <a:pt x="1262912" y="0"/>
                </a:lnTo>
                <a:lnTo>
                  <a:pt x="1262912" y="1274150"/>
                </a:lnTo>
                <a:lnTo>
                  <a:pt x="0" y="12741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0432" t="0" r="-11118" b="-26649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12790088" y="3093559"/>
            <a:ext cx="1453599" cy="1449907"/>
          </a:xfrm>
          <a:custGeom>
            <a:avLst/>
            <a:gdLst/>
            <a:ahLst/>
            <a:cxnLst/>
            <a:rect r="r" b="b" t="t" l="l"/>
            <a:pathLst>
              <a:path h="1449907" w="1453599">
                <a:moveTo>
                  <a:pt x="0" y="0"/>
                </a:moveTo>
                <a:lnTo>
                  <a:pt x="1453599" y="0"/>
                </a:lnTo>
                <a:lnTo>
                  <a:pt x="1453599" y="1449907"/>
                </a:lnTo>
                <a:lnTo>
                  <a:pt x="0" y="144990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15282675" y="6847827"/>
            <a:ext cx="1262900" cy="1249573"/>
          </a:xfrm>
          <a:custGeom>
            <a:avLst/>
            <a:gdLst/>
            <a:ahLst/>
            <a:cxnLst/>
            <a:rect r="r" b="b" t="t" l="l"/>
            <a:pathLst>
              <a:path h="1249573" w="1262900">
                <a:moveTo>
                  <a:pt x="0" y="0"/>
                </a:moveTo>
                <a:lnTo>
                  <a:pt x="1262900" y="0"/>
                </a:lnTo>
                <a:lnTo>
                  <a:pt x="1262900" y="1249573"/>
                </a:lnTo>
                <a:lnTo>
                  <a:pt x="0" y="124957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38" id="38"/>
          <p:cNvSpPr txBox="true"/>
          <p:nvPr/>
        </p:nvSpPr>
        <p:spPr>
          <a:xfrm rot="0">
            <a:off x="10269657" y="8220894"/>
            <a:ext cx="2131050" cy="5894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04"/>
              </a:lnSpc>
            </a:pPr>
            <a:r>
              <a:rPr lang="en-US" b="true" sz="16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JAYRAJ GAVDE</a:t>
            </a:r>
          </a:p>
          <a:p>
            <a:pPr algn="ctr">
              <a:lnSpc>
                <a:spcPts val="2304"/>
              </a:lnSpc>
            </a:pPr>
            <a:r>
              <a:rPr lang="en-US" b="true" sz="16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CMO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10752858" y="6742280"/>
            <a:ext cx="1240775" cy="1268975"/>
            <a:chOff x="0" y="0"/>
            <a:chExt cx="1654367" cy="1691967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10541" y="10541"/>
              <a:ext cx="1633220" cy="1670812"/>
            </a:xfrm>
            <a:custGeom>
              <a:avLst/>
              <a:gdLst/>
              <a:ahLst/>
              <a:cxnLst/>
              <a:rect r="r" b="b" t="t" l="l"/>
              <a:pathLst>
                <a:path h="1670812" w="1633220">
                  <a:moveTo>
                    <a:pt x="0" y="0"/>
                  </a:moveTo>
                  <a:lnTo>
                    <a:pt x="1633220" y="0"/>
                  </a:lnTo>
                  <a:lnTo>
                    <a:pt x="1633220" y="1670812"/>
                  </a:lnTo>
                  <a:lnTo>
                    <a:pt x="0" y="1670812"/>
                  </a:lnTo>
                  <a:close/>
                </a:path>
              </a:pathLst>
            </a:custGeom>
            <a:solidFill>
              <a:srgbClr val="7F7F7F"/>
            </a:solidFill>
          </p:spPr>
        </p:sp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654302" cy="1691894"/>
            </a:xfrm>
            <a:custGeom>
              <a:avLst/>
              <a:gdLst/>
              <a:ahLst/>
              <a:cxnLst/>
              <a:rect r="r" b="b" t="t" l="l"/>
              <a:pathLst>
                <a:path h="1691894" w="1654302">
                  <a:moveTo>
                    <a:pt x="10541" y="0"/>
                  </a:moveTo>
                  <a:lnTo>
                    <a:pt x="1643761" y="0"/>
                  </a:lnTo>
                  <a:cubicBezTo>
                    <a:pt x="1649603" y="0"/>
                    <a:pt x="1654302" y="4699"/>
                    <a:pt x="1654302" y="10541"/>
                  </a:cubicBezTo>
                  <a:lnTo>
                    <a:pt x="1654302" y="1681353"/>
                  </a:lnTo>
                  <a:cubicBezTo>
                    <a:pt x="1654302" y="1687195"/>
                    <a:pt x="1649603" y="1691894"/>
                    <a:pt x="1643761" y="1691894"/>
                  </a:cubicBezTo>
                  <a:lnTo>
                    <a:pt x="10541" y="1691894"/>
                  </a:lnTo>
                  <a:cubicBezTo>
                    <a:pt x="4699" y="1691894"/>
                    <a:pt x="0" y="1687195"/>
                    <a:pt x="0" y="1681353"/>
                  </a:cubicBezTo>
                  <a:lnTo>
                    <a:pt x="0" y="10541"/>
                  </a:lnTo>
                  <a:cubicBezTo>
                    <a:pt x="0" y="4699"/>
                    <a:pt x="4699" y="0"/>
                    <a:pt x="10541" y="0"/>
                  </a:cubicBezTo>
                  <a:moveTo>
                    <a:pt x="10541" y="21209"/>
                  </a:moveTo>
                  <a:lnTo>
                    <a:pt x="10541" y="10541"/>
                  </a:lnTo>
                  <a:lnTo>
                    <a:pt x="21082" y="10541"/>
                  </a:lnTo>
                  <a:lnTo>
                    <a:pt x="21082" y="1681353"/>
                  </a:lnTo>
                  <a:lnTo>
                    <a:pt x="10541" y="1681353"/>
                  </a:lnTo>
                  <a:lnTo>
                    <a:pt x="10541" y="1670812"/>
                  </a:lnTo>
                  <a:lnTo>
                    <a:pt x="1643761" y="1670812"/>
                  </a:lnTo>
                  <a:lnTo>
                    <a:pt x="1643761" y="1681353"/>
                  </a:lnTo>
                  <a:lnTo>
                    <a:pt x="1633220" y="1681353"/>
                  </a:lnTo>
                  <a:lnTo>
                    <a:pt x="1633220" y="10541"/>
                  </a:lnTo>
                  <a:lnTo>
                    <a:pt x="1643761" y="10541"/>
                  </a:lnTo>
                  <a:lnTo>
                    <a:pt x="1643761" y="21082"/>
                  </a:lnTo>
                  <a:lnTo>
                    <a:pt x="10541" y="21082"/>
                  </a:lnTo>
                  <a:close/>
                </a:path>
              </a:pathLst>
            </a:custGeom>
            <a:solidFill>
              <a:srgbClr val="A65F0D"/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1654367" cy="17300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Member Picture</a:t>
              </a:r>
            </a:p>
          </p:txBody>
        </p:sp>
      </p:grpSp>
      <p:sp>
        <p:nvSpPr>
          <p:cNvPr name="Freeform 43" id="43"/>
          <p:cNvSpPr/>
          <p:nvPr/>
        </p:nvSpPr>
        <p:spPr>
          <a:xfrm flipH="false" flipV="false" rot="0">
            <a:off x="10608388" y="6752405"/>
            <a:ext cx="1453599" cy="1449907"/>
          </a:xfrm>
          <a:custGeom>
            <a:avLst/>
            <a:gdLst/>
            <a:ahLst/>
            <a:cxnLst/>
            <a:rect r="r" b="b" t="t" l="l"/>
            <a:pathLst>
              <a:path h="1449907" w="1453599">
                <a:moveTo>
                  <a:pt x="0" y="0"/>
                </a:moveTo>
                <a:lnTo>
                  <a:pt x="1453599" y="0"/>
                </a:lnTo>
                <a:lnTo>
                  <a:pt x="1453599" y="1449907"/>
                </a:lnTo>
                <a:lnTo>
                  <a:pt x="0" y="144990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44" id="44"/>
          <p:cNvSpPr/>
          <p:nvPr/>
        </p:nvSpPr>
        <p:spPr>
          <a:xfrm flipH="false" flipV="false" rot="0">
            <a:off x="10639362" y="6750205"/>
            <a:ext cx="1453600" cy="1449899"/>
          </a:xfrm>
          <a:custGeom>
            <a:avLst/>
            <a:gdLst/>
            <a:ahLst/>
            <a:cxnLst/>
            <a:rect r="r" b="b" t="t" l="l"/>
            <a:pathLst>
              <a:path h="1449899" w="1453600">
                <a:moveTo>
                  <a:pt x="0" y="0"/>
                </a:moveTo>
                <a:lnTo>
                  <a:pt x="1453600" y="0"/>
                </a:lnTo>
                <a:lnTo>
                  <a:pt x="1453600" y="1449899"/>
                </a:lnTo>
                <a:lnTo>
                  <a:pt x="0" y="144989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-12492"/>
            </a:stretch>
          </a:blipFill>
        </p:spPr>
      </p:sp>
      <p:sp>
        <p:nvSpPr>
          <p:cNvPr name="TextBox 45" id="45"/>
          <p:cNvSpPr txBox="true"/>
          <p:nvPr/>
        </p:nvSpPr>
        <p:spPr>
          <a:xfrm rot="0">
            <a:off x="1587133" y="6152900"/>
            <a:ext cx="5737147" cy="3942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7"/>
              </a:lnSpc>
            </a:pPr>
            <a:r>
              <a:rPr lang="en-US" b="true" sz="2347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Empowering </a:t>
            </a:r>
            <a:r>
              <a:rPr lang="en-US" b="true" sz="2347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India's Informal Workforce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489153" y="4206357"/>
            <a:ext cx="5933108" cy="1652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E48312"/>
                </a:solidFill>
                <a:latin typeface="Poppins Bold"/>
                <a:ea typeface="Poppins Bold"/>
                <a:cs typeface="Poppins Bold"/>
                <a:sym typeface="Poppins Bold"/>
              </a:rPr>
              <a:t>GiGo</a:t>
            </a:r>
            <a:r>
              <a:rPr lang="en-US" sz="92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India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0269657" y="5683503"/>
            <a:ext cx="2131050" cy="5894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04"/>
              </a:lnSpc>
            </a:pPr>
            <a:r>
              <a:rPr lang="en-US" b="true" sz="16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Aman Uchitkar</a:t>
            </a:r>
          </a:p>
          <a:p>
            <a:pPr algn="ctr">
              <a:lnSpc>
                <a:spcPts val="2304"/>
              </a:lnSpc>
            </a:pPr>
            <a:r>
              <a:rPr lang="en-US" b="true" sz="16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CTO</a:t>
            </a:r>
          </a:p>
        </p:txBody>
      </p:sp>
      <p:grpSp>
        <p:nvGrpSpPr>
          <p:cNvPr name="Group 48" id="48"/>
          <p:cNvGrpSpPr/>
          <p:nvPr/>
        </p:nvGrpSpPr>
        <p:grpSpPr>
          <a:xfrm rot="0">
            <a:off x="10746358" y="4328389"/>
            <a:ext cx="1240858" cy="1269103"/>
            <a:chOff x="0" y="0"/>
            <a:chExt cx="1654477" cy="1692137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10541" y="10541"/>
              <a:ext cx="1633347" cy="1671066"/>
            </a:xfrm>
            <a:custGeom>
              <a:avLst/>
              <a:gdLst/>
              <a:ahLst/>
              <a:cxnLst/>
              <a:rect r="r" b="b" t="t" l="l"/>
              <a:pathLst>
                <a:path h="1671066" w="1633347">
                  <a:moveTo>
                    <a:pt x="0" y="0"/>
                  </a:moveTo>
                  <a:lnTo>
                    <a:pt x="1633347" y="0"/>
                  </a:lnTo>
                  <a:lnTo>
                    <a:pt x="1633347" y="1671066"/>
                  </a:lnTo>
                  <a:lnTo>
                    <a:pt x="0" y="1671066"/>
                  </a:lnTo>
                  <a:close/>
                </a:path>
              </a:pathLst>
            </a:custGeom>
            <a:solidFill>
              <a:srgbClr val="7F7F7F"/>
            </a:solidFill>
          </p:spPr>
        </p:sp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654429" cy="1692148"/>
            </a:xfrm>
            <a:custGeom>
              <a:avLst/>
              <a:gdLst/>
              <a:ahLst/>
              <a:cxnLst/>
              <a:rect r="r" b="b" t="t" l="l"/>
              <a:pathLst>
                <a:path h="1692148" w="1654429">
                  <a:moveTo>
                    <a:pt x="10541" y="0"/>
                  </a:moveTo>
                  <a:lnTo>
                    <a:pt x="1643888" y="0"/>
                  </a:lnTo>
                  <a:cubicBezTo>
                    <a:pt x="1649730" y="0"/>
                    <a:pt x="1654429" y="4699"/>
                    <a:pt x="1654429" y="10541"/>
                  </a:cubicBezTo>
                  <a:lnTo>
                    <a:pt x="1654429" y="1681607"/>
                  </a:lnTo>
                  <a:cubicBezTo>
                    <a:pt x="1654429" y="1687449"/>
                    <a:pt x="1649730" y="1692148"/>
                    <a:pt x="1643888" y="1692148"/>
                  </a:cubicBezTo>
                  <a:lnTo>
                    <a:pt x="10541" y="1692148"/>
                  </a:lnTo>
                  <a:cubicBezTo>
                    <a:pt x="4699" y="1692148"/>
                    <a:pt x="0" y="1687449"/>
                    <a:pt x="0" y="1681607"/>
                  </a:cubicBezTo>
                  <a:lnTo>
                    <a:pt x="0" y="10541"/>
                  </a:lnTo>
                  <a:cubicBezTo>
                    <a:pt x="0" y="4699"/>
                    <a:pt x="4699" y="0"/>
                    <a:pt x="10541" y="0"/>
                  </a:cubicBezTo>
                  <a:moveTo>
                    <a:pt x="10541" y="21209"/>
                  </a:moveTo>
                  <a:lnTo>
                    <a:pt x="10541" y="10541"/>
                  </a:lnTo>
                  <a:lnTo>
                    <a:pt x="21082" y="10541"/>
                  </a:lnTo>
                  <a:lnTo>
                    <a:pt x="21082" y="1681607"/>
                  </a:lnTo>
                  <a:lnTo>
                    <a:pt x="10541" y="1681607"/>
                  </a:lnTo>
                  <a:lnTo>
                    <a:pt x="10541" y="1671066"/>
                  </a:lnTo>
                  <a:lnTo>
                    <a:pt x="1643888" y="1671066"/>
                  </a:lnTo>
                  <a:lnTo>
                    <a:pt x="1643888" y="1681607"/>
                  </a:lnTo>
                  <a:lnTo>
                    <a:pt x="1633347" y="1681607"/>
                  </a:lnTo>
                  <a:lnTo>
                    <a:pt x="1633347" y="10541"/>
                  </a:lnTo>
                  <a:lnTo>
                    <a:pt x="1643888" y="10541"/>
                  </a:lnTo>
                  <a:lnTo>
                    <a:pt x="1643888" y="21082"/>
                  </a:lnTo>
                  <a:lnTo>
                    <a:pt x="10541" y="21082"/>
                  </a:lnTo>
                  <a:close/>
                </a:path>
              </a:pathLst>
            </a:custGeom>
            <a:solidFill>
              <a:srgbClr val="A65F0D"/>
            </a:solid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1654477" cy="17302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Member Picture</a:t>
              </a:r>
            </a:p>
          </p:txBody>
        </p:sp>
      </p:grpSp>
      <p:sp>
        <p:nvSpPr>
          <p:cNvPr name="Freeform 52" id="52"/>
          <p:cNvSpPr/>
          <p:nvPr/>
        </p:nvSpPr>
        <p:spPr>
          <a:xfrm flipH="false" flipV="false" rot="0">
            <a:off x="10776107" y="4289781"/>
            <a:ext cx="1262900" cy="1306159"/>
          </a:xfrm>
          <a:custGeom>
            <a:avLst/>
            <a:gdLst/>
            <a:ahLst/>
            <a:cxnLst/>
            <a:rect r="r" b="b" t="t" l="l"/>
            <a:pathLst>
              <a:path h="1306159" w="1262900">
                <a:moveTo>
                  <a:pt x="0" y="0"/>
                </a:moveTo>
                <a:lnTo>
                  <a:pt x="1262900" y="0"/>
                </a:lnTo>
                <a:lnTo>
                  <a:pt x="1262900" y="1306159"/>
                </a:lnTo>
                <a:lnTo>
                  <a:pt x="0" y="130615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" y="9601200"/>
            <a:ext cx="18288000" cy="685800"/>
            <a:chOff x="0" y="0"/>
            <a:chExt cx="24384000" cy="914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914400"/>
            </a:xfrm>
            <a:custGeom>
              <a:avLst/>
              <a:gdLst/>
              <a:ahLst/>
              <a:cxnLst/>
              <a:rect r="r" b="b" t="t" l="l"/>
              <a:pathLst>
                <a:path h="9144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BD582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" y="9501474"/>
            <a:ext cx="18288002" cy="98997"/>
            <a:chOff x="0" y="0"/>
            <a:chExt cx="24384003" cy="1319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1953"/>
            </a:xfrm>
            <a:custGeom>
              <a:avLst/>
              <a:gdLst/>
              <a:ahLst/>
              <a:cxnLst/>
              <a:rect r="r" b="b" t="t" l="l"/>
              <a:pathLst>
                <a:path h="131953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1953"/>
                  </a:lnTo>
                  <a:lnTo>
                    <a:pt x="0" y="131953"/>
                  </a:lnTo>
                  <a:close/>
                </a:path>
              </a:pathLst>
            </a:custGeom>
            <a:solidFill>
              <a:srgbClr val="E48312"/>
            </a:solidFill>
          </p:spPr>
        </p:sp>
      </p:grpSp>
      <p:sp>
        <p:nvSpPr>
          <p:cNvPr name="AutoShape 6" id="6"/>
          <p:cNvSpPr/>
          <p:nvPr/>
        </p:nvSpPr>
        <p:spPr>
          <a:xfrm rot="2188">
            <a:off x="1785534" y="2606768"/>
            <a:ext cx="14959968" cy="0"/>
          </a:xfrm>
          <a:prstGeom prst="line">
            <a:avLst/>
          </a:prstGeom>
          <a:ln cap="rnd" w="9525">
            <a:solidFill>
              <a:srgbClr val="7F7F7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4763" y="9601200"/>
            <a:ext cx="18283238" cy="685800"/>
            <a:chOff x="0" y="0"/>
            <a:chExt cx="24377651" cy="9144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4377650" cy="914400"/>
            </a:xfrm>
            <a:custGeom>
              <a:avLst/>
              <a:gdLst/>
              <a:ahLst/>
              <a:cxnLst/>
              <a:rect r="r" b="b" t="t" l="l"/>
              <a:pathLst>
                <a:path h="914400" w="24377650">
                  <a:moveTo>
                    <a:pt x="0" y="0"/>
                  </a:moveTo>
                  <a:lnTo>
                    <a:pt x="24377650" y="0"/>
                  </a:lnTo>
                  <a:lnTo>
                    <a:pt x="2437765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BD582C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23" y="9501474"/>
            <a:ext cx="18283238" cy="96012"/>
            <a:chOff x="0" y="0"/>
            <a:chExt cx="24377651" cy="12801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4377650" cy="128016"/>
            </a:xfrm>
            <a:custGeom>
              <a:avLst/>
              <a:gdLst/>
              <a:ahLst/>
              <a:cxnLst/>
              <a:rect r="r" b="b" t="t" l="l"/>
              <a:pathLst>
                <a:path h="128016" w="24377650">
                  <a:moveTo>
                    <a:pt x="0" y="0"/>
                  </a:moveTo>
                  <a:lnTo>
                    <a:pt x="24377650" y="0"/>
                  </a:lnTo>
                  <a:lnTo>
                    <a:pt x="24377650" y="128016"/>
                  </a:lnTo>
                  <a:lnTo>
                    <a:pt x="0" y="128016"/>
                  </a:lnTo>
                  <a:close/>
                </a:path>
              </a:pathLst>
            </a:custGeom>
            <a:solidFill>
              <a:srgbClr val="E48312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304800" y="197607"/>
            <a:ext cx="696538" cy="1004095"/>
            <a:chOff x="0" y="0"/>
            <a:chExt cx="928718" cy="133879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28751" cy="1338834"/>
            </a:xfrm>
            <a:custGeom>
              <a:avLst/>
              <a:gdLst/>
              <a:ahLst/>
              <a:cxnLst/>
              <a:rect r="r" b="b" t="t" l="l"/>
              <a:pathLst>
                <a:path h="1338834" w="928751">
                  <a:moveTo>
                    <a:pt x="0" y="0"/>
                  </a:moveTo>
                  <a:lnTo>
                    <a:pt x="928751" y="0"/>
                  </a:lnTo>
                  <a:lnTo>
                    <a:pt x="928751" y="1338834"/>
                  </a:lnTo>
                  <a:lnTo>
                    <a:pt x="0" y="13388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730" r="3" b="-727"/>
              </a:stretch>
            </a:blipFill>
          </p:spPr>
        </p:sp>
      </p:grpSp>
      <p:sp>
        <p:nvSpPr>
          <p:cNvPr name="AutoShape 13" id="13"/>
          <p:cNvSpPr/>
          <p:nvPr/>
        </p:nvSpPr>
        <p:spPr>
          <a:xfrm rot="5244800">
            <a:off x="673471" y="702632"/>
            <a:ext cx="1067967" cy="0"/>
          </a:xfrm>
          <a:prstGeom prst="line">
            <a:avLst/>
          </a:prstGeom>
          <a:ln cap="rnd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4" id="14" descr="C:\Users\ADMIN\Downloads\Tab Logo.png"/>
          <p:cNvSpPr/>
          <p:nvPr/>
        </p:nvSpPr>
        <p:spPr>
          <a:xfrm flipH="false" flipV="false" rot="0">
            <a:off x="1312863" y="157325"/>
            <a:ext cx="2418594" cy="1135513"/>
          </a:xfrm>
          <a:custGeom>
            <a:avLst/>
            <a:gdLst/>
            <a:ahLst/>
            <a:cxnLst/>
            <a:rect r="r" b="b" t="t" l="l"/>
            <a:pathLst>
              <a:path h="1135513" w="2418594">
                <a:moveTo>
                  <a:pt x="0" y="0"/>
                </a:moveTo>
                <a:lnTo>
                  <a:pt x="2418594" y="0"/>
                </a:lnTo>
                <a:lnTo>
                  <a:pt x="2418594" y="1135513"/>
                </a:lnTo>
                <a:lnTo>
                  <a:pt x="0" y="11355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261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14912940" y="266700"/>
            <a:ext cx="3146460" cy="891497"/>
            <a:chOff x="0" y="0"/>
            <a:chExt cx="4195280" cy="118866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195318" cy="1188720"/>
            </a:xfrm>
            <a:custGeom>
              <a:avLst/>
              <a:gdLst/>
              <a:ahLst/>
              <a:cxnLst/>
              <a:rect r="r" b="b" t="t" l="l"/>
              <a:pathLst>
                <a:path h="1188720" w="4195318">
                  <a:moveTo>
                    <a:pt x="0" y="0"/>
                  </a:moveTo>
                  <a:lnTo>
                    <a:pt x="4195318" y="0"/>
                  </a:lnTo>
                  <a:lnTo>
                    <a:pt x="4195318" y="1188720"/>
                  </a:lnTo>
                  <a:lnTo>
                    <a:pt x="0" y="11887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4"/>
              </a:stretch>
            </a:blipFill>
          </p:spPr>
        </p:sp>
      </p:grpSp>
      <p:sp>
        <p:nvSpPr>
          <p:cNvPr name="AutoShape 17" id="17"/>
          <p:cNvSpPr/>
          <p:nvPr/>
        </p:nvSpPr>
        <p:spPr>
          <a:xfrm rot="5296">
            <a:off x="825490" y="1400175"/>
            <a:ext cx="16484620" cy="0"/>
          </a:xfrm>
          <a:prstGeom prst="line">
            <a:avLst/>
          </a:prstGeom>
          <a:ln cap="rnd" w="19050">
            <a:solidFill>
              <a:srgbClr val="E4831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 flipV="true">
            <a:off x="8694751" y="3398872"/>
            <a:ext cx="0" cy="4546894"/>
          </a:xfrm>
          <a:prstGeom prst="line">
            <a:avLst/>
          </a:prstGeom>
          <a:ln cap="flat" w="38100">
            <a:solidFill>
              <a:srgbClr val="7F7F7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9" id="19"/>
          <p:cNvSpPr/>
          <p:nvPr/>
        </p:nvSpPr>
        <p:spPr>
          <a:xfrm flipH="false" flipV="false" rot="0">
            <a:off x="9141642" y="3911570"/>
            <a:ext cx="8755042" cy="4071094"/>
          </a:xfrm>
          <a:custGeom>
            <a:avLst/>
            <a:gdLst/>
            <a:ahLst/>
            <a:cxnLst/>
            <a:rect r="r" b="b" t="t" l="l"/>
            <a:pathLst>
              <a:path h="4071094" w="8755042">
                <a:moveTo>
                  <a:pt x="0" y="0"/>
                </a:moveTo>
                <a:lnTo>
                  <a:pt x="8755042" y="0"/>
                </a:lnTo>
                <a:lnTo>
                  <a:pt x="8755042" y="4071095"/>
                </a:lnTo>
                <a:lnTo>
                  <a:pt x="0" y="407109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3848637" y="1779250"/>
            <a:ext cx="2432250" cy="626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08"/>
              </a:lnSpc>
            </a:pPr>
            <a:r>
              <a:rPr lang="en-US" b="true" sz="3200">
                <a:solidFill>
                  <a:srgbClr val="8D412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Problem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749025" y="388600"/>
            <a:ext cx="10561350" cy="6926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b="true" sz="40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The Problem Identified / Problem Statement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871208" y="1779250"/>
            <a:ext cx="4546255" cy="6168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08"/>
              </a:lnSpc>
            </a:pPr>
            <a:r>
              <a:rPr lang="en-US" b="true" sz="3200">
                <a:solidFill>
                  <a:srgbClr val="8D412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Market size &amp; Workforce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01338" y="2924685"/>
            <a:ext cx="7244165" cy="58734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7273" indent="-243636" lvl="1">
              <a:lnSpc>
                <a:spcPts val="3904"/>
              </a:lnSpc>
              <a:buFont typeface="Arial"/>
              <a:buChar char="•"/>
            </a:pPr>
            <a:r>
              <a:rPr lang="en-US" b="true" sz="2256">
                <a:solidFill>
                  <a:srgbClr val="3F3F3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450 mi</a:t>
            </a:r>
            <a:r>
              <a:rPr lang="en-US" b="true" sz="2256">
                <a:solidFill>
                  <a:srgbClr val="3F3F3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llion unorganized workers </a:t>
            </a:r>
          </a:p>
          <a:p>
            <a:pPr algn="l">
              <a:lnSpc>
                <a:spcPts val="3904"/>
              </a:lnSpc>
            </a:pPr>
            <a:r>
              <a:rPr lang="en-US" b="true" sz="2256">
                <a:solidFill>
                  <a:srgbClr val="3F3F3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          (unskilled, semi-skilled, and skilled)</a:t>
            </a:r>
          </a:p>
          <a:p>
            <a:pPr algn="l" marL="487273" indent="-243636" lvl="1">
              <a:lnSpc>
                <a:spcPts val="3904"/>
              </a:lnSpc>
              <a:buFont typeface="Arial"/>
              <a:buChar char="•"/>
            </a:pPr>
            <a:r>
              <a:rPr lang="en-US" b="true" sz="2256">
                <a:solidFill>
                  <a:srgbClr val="3F3F3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Lack of Accessible Jobs for Unskilled and Semi-Skilled Workers</a:t>
            </a:r>
          </a:p>
          <a:p>
            <a:pPr algn="l" marL="487273" indent="-243636" lvl="1">
              <a:lnSpc>
                <a:spcPts val="3904"/>
              </a:lnSpc>
              <a:buFont typeface="Arial"/>
              <a:buChar char="•"/>
            </a:pPr>
            <a:r>
              <a:rPr lang="en-US" b="true" sz="2256">
                <a:solidFill>
                  <a:srgbClr val="3F3F3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Exploitation by Middlemen and Contractors</a:t>
            </a:r>
          </a:p>
          <a:p>
            <a:pPr algn="l" marL="487273" indent="-243636" lvl="1">
              <a:lnSpc>
                <a:spcPts val="3904"/>
              </a:lnSpc>
              <a:buFont typeface="Arial"/>
              <a:buChar char="•"/>
            </a:pPr>
            <a:r>
              <a:rPr lang="en-US" b="true" sz="2256">
                <a:solidFill>
                  <a:srgbClr val="3F3F3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Absence of a Tech Platform for the Informal Workforce</a:t>
            </a:r>
          </a:p>
          <a:p>
            <a:pPr algn="l" marL="487273" indent="-243636" lvl="1">
              <a:lnSpc>
                <a:spcPts val="3904"/>
              </a:lnSpc>
              <a:buFont typeface="Arial"/>
              <a:buChar char="•"/>
            </a:pPr>
            <a:r>
              <a:rPr lang="en-US" b="true" sz="2256">
                <a:solidFill>
                  <a:srgbClr val="3F3F3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No Assured Minimum Wage or Work Transparency</a:t>
            </a:r>
          </a:p>
          <a:p>
            <a:pPr algn="l" marL="487273" indent="-243636" lvl="1">
              <a:lnSpc>
                <a:spcPts val="3904"/>
              </a:lnSpc>
              <a:buFont typeface="Arial"/>
              <a:buChar char="•"/>
            </a:pPr>
            <a:r>
              <a:rPr lang="en-US" b="true" sz="2256">
                <a:solidFill>
                  <a:srgbClr val="3F3F3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Limited Flexibility for Workers and Employers</a:t>
            </a:r>
          </a:p>
          <a:p>
            <a:pPr algn="l" marL="487273" indent="-243636" lvl="1">
              <a:lnSpc>
                <a:spcPts val="3904"/>
              </a:lnSpc>
              <a:buFont typeface="Arial"/>
              <a:buChar char="•"/>
            </a:pPr>
            <a:r>
              <a:rPr lang="en-US" b="true" sz="2256">
                <a:solidFill>
                  <a:srgbClr val="3F3F3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High Unemployment in Semi-Urban and Rural Areas</a:t>
            </a:r>
          </a:p>
          <a:p>
            <a:pPr algn="l" marL="487273" indent="-243636" lvl="1">
              <a:lnSpc>
                <a:spcPts val="3904"/>
              </a:lnSpc>
              <a:buFont typeface="Arial"/>
              <a:buChar char="•"/>
            </a:pPr>
            <a:r>
              <a:rPr lang="en-US" b="true" sz="2256">
                <a:solidFill>
                  <a:srgbClr val="3F3F3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Lack of Verified, On-Demand Manpower for Employers</a:t>
            </a:r>
          </a:p>
          <a:p>
            <a:pPr algn="l" marL="487273" indent="-243636" lvl="1">
              <a:lnSpc>
                <a:spcPts val="3904"/>
              </a:lnSpc>
              <a:buFont typeface="Arial"/>
              <a:buChar char="•"/>
            </a:pPr>
            <a:r>
              <a:rPr lang="en-US" b="true" sz="2256">
                <a:solidFill>
                  <a:srgbClr val="3F3F3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Underutilization of India’s Gig Economy Potential</a:t>
            </a:r>
          </a:p>
          <a:p>
            <a:pPr algn="l">
              <a:lnSpc>
                <a:spcPts val="3904"/>
              </a:lnSpc>
            </a:pPr>
          </a:p>
        </p:txBody>
      </p:sp>
      <p:sp>
        <p:nvSpPr>
          <p:cNvPr name="TextBox 24" id="24"/>
          <p:cNvSpPr txBox="true"/>
          <p:nvPr/>
        </p:nvSpPr>
        <p:spPr>
          <a:xfrm rot="0">
            <a:off x="9141642" y="3020280"/>
            <a:ext cx="897062" cy="3968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52"/>
              </a:lnSpc>
              <a:spcBef>
                <a:spcPct val="0"/>
              </a:spcBef>
            </a:pPr>
            <a:r>
              <a:rPr lang="en-US" sz="198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in India:-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" y="9601200"/>
            <a:ext cx="18288000" cy="685800"/>
            <a:chOff x="0" y="0"/>
            <a:chExt cx="24384000" cy="914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914400"/>
            </a:xfrm>
            <a:custGeom>
              <a:avLst/>
              <a:gdLst/>
              <a:ahLst/>
              <a:cxnLst/>
              <a:rect r="r" b="b" t="t" l="l"/>
              <a:pathLst>
                <a:path h="9144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BD582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" y="9501474"/>
            <a:ext cx="18288002" cy="98997"/>
            <a:chOff x="0" y="0"/>
            <a:chExt cx="24384003" cy="1319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1953"/>
            </a:xfrm>
            <a:custGeom>
              <a:avLst/>
              <a:gdLst/>
              <a:ahLst/>
              <a:cxnLst/>
              <a:rect r="r" b="b" t="t" l="l"/>
              <a:pathLst>
                <a:path h="131953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1953"/>
                  </a:lnTo>
                  <a:lnTo>
                    <a:pt x="0" y="131953"/>
                  </a:lnTo>
                  <a:close/>
                </a:path>
              </a:pathLst>
            </a:custGeom>
            <a:solidFill>
              <a:srgbClr val="E48312"/>
            </a:solidFill>
          </p:spPr>
        </p:sp>
      </p:grpSp>
      <p:sp>
        <p:nvSpPr>
          <p:cNvPr name="AutoShape 6" id="6"/>
          <p:cNvSpPr/>
          <p:nvPr/>
        </p:nvSpPr>
        <p:spPr>
          <a:xfrm>
            <a:off x="1666399" y="2460069"/>
            <a:ext cx="14959965" cy="9525"/>
          </a:xfrm>
          <a:prstGeom prst="line">
            <a:avLst/>
          </a:prstGeom>
          <a:ln cap="rnd" w="9525">
            <a:solidFill>
              <a:srgbClr val="7F7F7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4763" y="9601200"/>
            <a:ext cx="18283238" cy="685800"/>
            <a:chOff x="0" y="0"/>
            <a:chExt cx="24377651" cy="9144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4377650" cy="914400"/>
            </a:xfrm>
            <a:custGeom>
              <a:avLst/>
              <a:gdLst/>
              <a:ahLst/>
              <a:cxnLst/>
              <a:rect r="r" b="b" t="t" l="l"/>
              <a:pathLst>
                <a:path h="914400" w="24377650">
                  <a:moveTo>
                    <a:pt x="0" y="0"/>
                  </a:moveTo>
                  <a:lnTo>
                    <a:pt x="24377650" y="0"/>
                  </a:lnTo>
                  <a:lnTo>
                    <a:pt x="2437765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BD582C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23" y="9501474"/>
            <a:ext cx="18283238" cy="96012"/>
            <a:chOff x="0" y="0"/>
            <a:chExt cx="24377651" cy="12801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4377650" cy="128016"/>
            </a:xfrm>
            <a:custGeom>
              <a:avLst/>
              <a:gdLst/>
              <a:ahLst/>
              <a:cxnLst/>
              <a:rect r="r" b="b" t="t" l="l"/>
              <a:pathLst>
                <a:path h="128016" w="24377650">
                  <a:moveTo>
                    <a:pt x="0" y="0"/>
                  </a:moveTo>
                  <a:lnTo>
                    <a:pt x="24377650" y="0"/>
                  </a:lnTo>
                  <a:lnTo>
                    <a:pt x="24377650" y="128016"/>
                  </a:lnTo>
                  <a:lnTo>
                    <a:pt x="0" y="128016"/>
                  </a:lnTo>
                  <a:close/>
                </a:path>
              </a:pathLst>
            </a:custGeom>
            <a:solidFill>
              <a:srgbClr val="E48312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304800" y="197607"/>
            <a:ext cx="696538" cy="1004095"/>
            <a:chOff x="0" y="0"/>
            <a:chExt cx="928718" cy="133879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28751" cy="1338834"/>
            </a:xfrm>
            <a:custGeom>
              <a:avLst/>
              <a:gdLst/>
              <a:ahLst/>
              <a:cxnLst/>
              <a:rect r="r" b="b" t="t" l="l"/>
              <a:pathLst>
                <a:path h="1338834" w="928751">
                  <a:moveTo>
                    <a:pt x="0" y="0"/>
                  </a:moveTo>
                  <a:lnTo>
                    <a:pt x="928751" y="0"/>
                  </a:lnTo>
                  <a:lnTo>
                    <a:pt x="928751" y="1338834"/>
                  </a:lnTo>
                  <a:lnTo>
                    <a:pt x="0" y="13388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730" r="3" b="-727"/>
              </a:stretch>
            </a:blipFill>
          </p:spPr>
        </p:sp>
      </p:grpSp>
      <p:sp>
        <p:nvSpPr>
          <p:cNvPr name="AutoShape 13" id="13"/>
          <p:cNvSpPr/>
          <p:nvPr/>
        </p:nvSpPr>
        <p:spPr>
          <a:xfrm rot="5244800">
            <a:off x="673471" y="702632"/>
            <a:ext cx="1067967" cy="0"/>
          </a:xfrm>
          <a:prstGeom prst="line">
            <a:avLst/>
          </a:prstGeom>
          <a:ln cap="rnd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4" id="14" descr="C:\Users\ADMIN\Downloads\Tab Logo.png"/>
          <p:cNvSpPr/>
          <p:nvPr/>
        </p:nvSpPr>
        <p:spPr>
          <a:xfrm flipH="false" flipV="false" rot="0">
            <a:off x="1312863" y="157325"/>
            <a:ext cx="2418594" cy="1135513"/>
          </a:xfrm>
          <a:custGeom>
            <a:avLst/>
            <a:gdLst/>
            <a:ahLst/>
            <a:cxnLst/>
            <a:rect r="r" b="b" t="t" l="l"/>
            <a:pathLst>
              <a:path h="1135513" w="2418594">
                <a:moveTo>
                  <a:pt x="0" y="0"/>
                </a:moveTo>
                <a:lnTo>
                  <a:pt x="2418594" y="0"/>
                </a:lnTo>
                <a:lnTo>
                  <a:pt x="2418594" y="1135513"/>
                </a:lnTo>
                <a:lnTo>
                  <a:pt x="0" y="11355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261" b="0"/>
            </a:stretch>
          </a:blipFill>
        </p:spPr>
      </p:sp>
      <p:sp>
        <p:nvSpPr>
          <p:cNvPr name="AutoShape 15" id="15"/>
          <p:cNvSpPr/>
          <p:nvPr/>
        </p:nvSpPr>
        <p:spPr>
          <a:xfrm rot="5296">
            <a:off x="825490" y="1400175"/>
            <a:ext cx="16484620" cy="0"/>
          </a:xfrm>
          <a:prstGeom prst="line">
            <a:avLst/>
          </a:prstGeom>
          <a:ln cap="rnd" w="19050">
            <a:solidFill>
              <a:srgbClr val="E4831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6" id="16"/>
          <p:cNvSpPr/>
          <p:nvPr/>
        </p:nvSpPr>
        <p:spPr>
          <a:xfrm flipH="false" flipV="false" rot="0">
            <a:off x="1107782" y="3330555"/>
            <a:ext cx="16067720" cy="3816084"/>
          </a:xfrm>
          <a:custGeom>
            <a:avLst/>
            <a:gdLst/>
            <a:ahLst/>
            <a:cxnLst/>
            <a:rect r="r" b="b" t="t" l="l"/>
            <a:pathLst>
              <a:path h="3816084" w="16067720">
                <a:moveTo>
                  <a:pt x="0" y="0"/>
                </a:moveTo>
                <a:lnTo>
                  <a:pt x="16067720" y="0"/>
                </a:lnTo>
                <a:lnTo>
                  <a:pt x="16067720" y="3816084"/>
                </a:lnTo>
                <a:lnTo>
                  <a:pt x="0" y="381608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4130025" y="388600"/>
            <a:ext cx="9494550" cy="6926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b="true" sz="40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The Solution / Idea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548455" y="1673874"/>
            <a:ext cx="7998396" cy="5528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31"/>
              </a:lnSpc>
              <a:spcBef>
                <a:spcPct val="0"/>
              </a:spcBef>
            </a:pPr>
            <a:r>
              <a:rPr lang="en-US" b="true" sz="27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GiGoIndia- </a:t>
            </a:r>
            <a:r>
              <a:rPr lang="en-US" b="true" sz="27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“Empowering India's Informal Workforce”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01338" y="7495026"/>
            <a:ext cx="8019844" cy="1487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68371" indent="-234185" lvl="1">
              <a:lnSpc>
                <a:spcPts val="3904"/>
              </a:lnSpc>
              <a:buFont typeface="Arial"/>
              <a:buChar char="•"/>
            </a:pPr>
            <a:r>
              <a:rPr lang="en-US" b="true" sz="216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Financial Empowerment &amp; Digital Inclusion</a:t>
            </a:r>
          </a:p>
          <a:p>
            <a:pPr algn="l" marL="468371" indent="-234185" lvl="1">
              <a:lnSpc>
                <a:spcPts val="3904"/>
              </a:lnSpc>
              <a:buFont typeface="Arial"/>
              <a:buChar char="•"/>
            </a:pPr>
            <a:r>
              <a:rPr lang="en-US" b="true" sz="216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Integrated Skill Development schemes  (skill india mission, etc)</a:t>
            </a:r>
          </a:p>
          <a:p>
            <a:pPr algn="l" marL="468371" indent="-234185" lvl="1">
              <a:lnSpc>
                <a:spcPts val="3904"/>
              </a:lnSpc>
              <a:buFont typeface="Arial"/>
              <a:buChar char="•"/>
            </a:pPr>
            <a:r>
              <a:rPr lang="en-US" b="true" sz="216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Multilingual Support &amp; Offline Assistance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342826" y="7480014"/>
            <a:ext cx="8563497" cy="16027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6"/>
              </a:lnSpc>
            </a:pPr>
            <a:r>
              <a:rPr lang="en-US" sz="1809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1. </a:t>
            </a:r>
            <a:r>
              <a:rPr lang="en-US" b="true" sz="180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Bridges the massive unemployment &amp; underemployment gap </a:t>
            </a:r>
            <a:r>
              <a:rPr lang="en-US" sz="180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180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f</a:t>
            </a:r>
          </a:p>
          <a:p>
            <a:pPr algn="l">
              <a:lnSpc>
                <a:spcPts val="2606"/>
              </a:lnSpc>
            </a:pPr>
            <a:r>
              <a:rPr lang="en-US" sz="180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or India's 90%+ informal workforce.</a:t>
            </a:r>
          </a:p>
          <a:p>
            <a:pPr algn="l">
              <a:lnSpc>
                <a:spcPts val="2606"/>
              </a:lnSpc>
            </a:pPr>
            <a:r>
              <a:rPr lang="en-US" b="true" sz="180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3. </a:t>
            </a:r>
            <a:r>
              <a:rPr lang="en-US" b="true" sz="180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Government scheme-friendly—</a:t>
            </a:r>
          </a:p>
          <a:p>
            <a:pPr algn="l">
              <a:lnSpc>
                <a:spcPts val="2189"/>
              </a:lnSpc>
            </a:pPr>
            <a:r>
              <a:rPr lang="en-US" sz="152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aligns with Digital India, Skill India, and ASIIM initiatives.</a:t>
            </a:r>
          </a:p>
          <a:p>
            <a:pPr algn="l">
              <a:lnSpc>
                <a:spcPts val="2606"/>
              </a:lnSpc>
            </a:pPr>
            <a:r>
              <a:rPr lang="en-US" b="true" sz="180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4. Adapts global gig principles for India’s vast informal economy with added social impact.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" y="9601200"/>
            <a:ext cx="18288000" cy="685800"/>
            <a:chOff x="0" y="0"/>
            <a:chExt cx="24384000" cy="914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914400"/>
            </a:xfrm>
            <a:custGeom>
              <a:avLst/>
              <a:gdLst/>
              <a:ahLst/>
              <a:cxnLst/>
              <a:rect r="r" b="b" t="t" l="l"/>
              <a:pathLst>
                <a:path h="9144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BD582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" y="9501474"/>
            <a:ext cx="18288002" cy="98997"/>
            <a:chOff x="0" y="0"/>
            <a:chExt cx="24384003" cy="1319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1953"/>
            </a:xfrm>
            <a:custGeom>
              <a:avLst/>
              <a:gdLst/>
              <a:ahLst/>
              <a:cxnLst/>
              <a:rect r="r" b="b" t="t" l="l"/>
              <a:pathLst>
                <a:path h="131953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1953"/>
                  </a:lnTo>
                  <a:lnTo>
                    <a:pt x="0" y="131953"/>
                  </a:lnTo>
                  <a:close/>
                </a:path>
              </a:pathLst>
            </a:custGeom>
            <a:solidFill>
              <a:srgbClr val="E48312"/>
            </a:solidFill>
          </p:spPr>
        </p:sp>
      </p:grpSp>
      <p:sp>
        <p:nvSpPr>
          <p:cNvPr name="AutoShape 6" id="6"/>
          <p:cNvSpPr/>
          <p:nvPr/>
        </p:nvSpPr>
        <p:spPr>
          <a:xfrm rot="2188">
            <a:off x="1785534" y="2606768"/>
            <a:ext cx="14959968" cy="0"/>
          </a:xfrm>
          <a:prstGeom prst="line">
            <a:avLst/>
          </a:prstGeom>
          <a:ln cap="rnd" w="9525">
            <a:solidFill>
              <a:srgbClr val="7F7F7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4763" y="9601200"/>
            <a:ext cx="18283238" cy="685800"/>
            <a:chOff x="0" y="0"/>
            <a:chExt cx="24377651" cy="9144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4377650" cy="914400"/>
            </a:xfrm>
            <a:custGeom>
              <a:avLst/>
              <a:gdLst/>
              <a:ahLst/>
              <a:cxnLst/>
              <a:rect r="r" b="b" t="t" l="l"/>
              <a:pathLst>
                <a:path h="914400" w="24377650">
                  <a:moveTo>
                    <a:pt x="0" y="0"/>
                  </a:moveTo>
                  <a:lnTo>
                    <a:pt x="24377650" y="0"/>
                  </a:lnTo>
                  <a:lnTo>
                    <a:pt x="2437765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BD582C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23" y="9501474"/>
            <a:ext cx="18283238" cy="96012"/>
            <a:chOff x="0" y="0"/>
            <a:chExt cx="24377651" cy="12801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4377650" cy="128016"/>
            </a:xfrm>
            <a:custGeom>
              <a:avLst/>
              <a:gdLst/>
              <a:ahLst/>
              <a:cxnLst/>
              <a:rect r="r" b="b" t="t" l="l"/>
              <a:pathLst>
                <a:path h="128016" w="24377650">
                  <a:moveTo>
                    <a:pt x="0" y="0"/>
                  </a:moveTo>
                  <a:lnTo>
                    <a:pt x="24377650" y="0"/>
                  </a:lnTo>
                  <a:lnTo>
                    <a:pt x="24377650" y="128016"/>
                  </a:lnTo>
                  <a:lnTo>
                    <a:pt x="0" y="128016"/>
                  </a:lnTo>
                  <a:close/>
                </a:path>
              </a:pathLst>
            </a:custGeom>
            <a:solidFill>
              <a:srgbClr val="E48312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304800" y="197607"/>
            <a:ext cx="696538" cy="1004095"/>
            <a:chOff x="0" y="0"/>
            <a:chExt cx="928718" cy="133879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28751" cy="1338834"/>
            </a:xfrm>
            <a:custGeom>
              <a:avLst/>
              <a:gdLst/>
              <a:ahLst/>
              <a:cxnLst/>
              <a:rect r="r" b="b" t="t" l="l"/>
              <a:pathLst>
                <a:path h="1338834" w="928751">
                  <a:moveTo>
                    <a:pt x="0" y="0"/>
                  </a:moveTo>
                  <a:lnTo>
                    <a:pt x="928751" y="0"/>
                  </a:lnTo>
                  <a:lnTo>
                    <a:pt x="928751" y="1338834"/>
                  </a:lnTo>
                  <a:lnTo>
                    <a:pt x="0" y="13388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730" r="3" b="-727"/>
              </a:stretch>
            </a:blipFill>
          </p:spPr>
        </p:sp>
      </p:grpSp>
      <p:sp>
        <p:nvSpPr>
          <p:cNvPr name="AutoShape 13" id="13"/>
          <p:cNvSpPr/>
          <p:nvPr/>
        </p:nvSpPr>
        <p:spPr>
          <a:xfrm rot="5244800">
            <a:off x="673471" y="702632"/>
            <a:ext cx="1067967" cy="0"/>
          </a:xfrm>
          <a:prstGeom prst="line">
            <a:avLst/>
          </a:prstGeom>
          <a:ln cap="rnd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4" id="14" descr="C:\Users\ADMIN\Downloads\Tab Logo.png"/>
          <p:cNvSpPr/>
          <p:nvPr/>
        </p:nvSpPr>
        <p:spPr>
          <a:xfrm flipH="false" flipV="false" rot="0">
            <a:off x="1312863" y="157325"/>
            <a:ext cx="2418594" cy="1135513"/>
          </a:xfrm>
          <a:custGeom>
            <a:avLst/>
            <a:gdLst/>
            <a:ahLst/>
            <a:cxnLst/>
            <a:rect r="r" b="b" t="t" l="l"/>
            <a:pathLst>
              <a:path h="1135513" w="2418594">
                <a:moveTo>
                  <a:pt x="0" y="0"/>
                </a:moveTo>
                <a:lnTo>
                  <a:pt x="2418594" y="0"/>
                </a:lnTo>
                <a:lnTo>
                  <a:pt x="2418594" y="1135513"/>
                </a:lnTo>
                <a:lnTo>
                  <a:pt x="0" y="11355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261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14912940" y="266700"/>
            <a:ext cx="3146460" cy="891497"/>
            <a:chOff x="0" y="0"/>
            <a:chExt cx="4195280" cy="118866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195318" cy="1188720"/>
            </a:xfrm>
            <a:custGeom>
              <a:avLst/>
              <a:gdLst/>
              <a:ahLst/>
              <a:cxnLst/>
              <a:rect r="r" b="b" t="t" l="l"/>
              <a:pathLst>
                <a:path h="1188720" w="4195318">
                  <a:moveTo>
                    <a:pt x="0" y="0"/>
                  </a:moveTo>
                  <a:lnTo>
                    <a:pt x="4195318" y="0"/>
                  </a:lnTo>
                  <a:lnTo>
                    <a:pt x="4195318" y="1188720"/>
                  </a:lnTo>
                  <a:lnTo>
                    <a:pt x="0" y="11887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4"/>
              </a:stretch>
            </a:blipFill>
          </p:spPr>
        </p:sp>
      </p:grpSp>
      <p:sp>
        <p:nvSpPr>
          <p:cNvPr name="AutoShape 17" id="17"/>
          <p:cNvSpPr/>
          <p:nvPr/>
        </p:nvSpPr>
        <p:spPr>
          <a:xfrm rot="5296">
            <a:off x="825490" y="1400175"/>
            <a:ext cx="16484620" cy="0"/>
          </a:xfrm>
          <a:prstGeom prst="line">
            <a:avLst/>
          </a:prstGeom>
          <a:ln cap="rnd" w="19050">
            <a:solidFill>
              <a:srgbClr val="E4831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8" id="18"/>
          <p:cNvSpPr txBox="true"/>
          <p:nvPr/>
        </p:nvSpPr>
        <p:spPr>
          <a:xfrm rot="0">
            <a:off x="3459450" y="1813730"/>
            <a:ext cx="14599950" cy="6168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08"/>
              </a:lnSpc>
            </a:pPr>
            <a:r>
              <a:rPr lang="en-US" b="true" sz="3200">
                <a:solidFill>
                  <a:srgbClr val="8D412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Target Audiance</a:t>
            </a:r>
          </a:p>
        </p:txBody>
      </p:sp>
      <p:sp>
        <p:nvSpPr>
          <p:cNvPr name="AutoShape 19" id="19"/>
          <p:cNvSpPr/>
          <p:nvPr/>
        </p:nvSpPr>
        <p:spPr>
          <a:xfrm flipV="true">
            <a:off x="9144000" y="1897380"/>
            <a:ext cx="0" cy="6492240"/>
          </a:xfrm>
          <a:prstGeom prst="line">
            <a:avLst/>
          </a:prstGeom>
          <a:ln cap="flat" w="38100">
            <a:solidFill>
              <a:srgbClr val="7F7F7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0" id="20"/>
          <p:cNvSpPr/>
          <p:nvPr/>
        </p:nvSpPr>
        <p:spPr>
          <a:xfrm flipH="false" flipV="false" rot="0">
            <a:off x="10544958" y="3135405"/>
            <a:ext cx="5287025" cy="1359335"/>
          </a:xfrm>
          <a:custGeom>
            <a:avLst/>
            <a:gdLst/>
            <a:ahLst/>
            <a:cxnLst/>
            <a:rect r="r" b="b" t="t" l="l"/>
            <a:pathLst>
              <a:path h="1359335" w="5287025">
                <a:moveTo>
                  <a:pt x="0" y="0"/>
                </a:moveTo>
                <a:lnTo>
                  <a:pt x="5287025" y="0"/>
                </a:lnTo>
                <a:lnTo>
                  <a:pt x="5287025" y="1359336"/>
                </a:lnTo>
                <a:lnTo>
                  <a:pt x="0" y="135933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-100406" b="-96814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4130025" y="388600"/>
            <a:ext cx="9494550" cy="6926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b="true" sz="40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Target Customers and Revenue Model 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769543" y="1764030"/>
            <a:ext cx="14599950" cy="6168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08"/>
              </a:lnSpc>
            </a:pPr>
            <a:r>
              <a:rPr lang="en-US" b="true" sz="3200">
                <a:solidFill>
                  <a:srgbClr val="8D412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Business Model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10544958" y="5896282"/>
            <a:ext cx="5331386" cy="1388909"/>
          </a:xfrm>
          <a:custGeom>
            <a:avLst/>
            <a:gdLst/>
            <a:ahLst/>
            <a:cxnLst/>
            <a:rect r="r" b="b" t="t" l="l"/>
            <a:pathLst>
              <a:path h="1388909" w="5331386">
                <a:moveTo>
                  <a:pt x="0" y="0"/>
                </a:moveTo>
                <a:lnTo>
                  <a:pt x="5331386" y="0"/>
                </a:lnTo>
                <a:lnTo>
                  <a:pt x="5331386" y="1388909"/>
                </a:lnTo>
                <a:lnTo>
                  <a:pt x="0" y="138890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97351" t="0" r="-1386" b="-92623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0544958" y="4532841"/>
            <a:ext cx="5287025" cy="1359335"/>
          </a:xfrm>
          <a:custGeom>
            <a:avLst/>
            <a:gdLst/>
            <a:ahLst/>
            <a:cxnLst/>
            <a:rect r="r" b="b" t="t" l="l"/>
            <a:pathLst>
              <a:path h="1359335" w="5287025">
                <a:moveTo>
                  <a:pt x="0" y="0"/>
                </a:moveTo>
                <a:lnTo>
                  <a:pt x="5287025" y="0"/>
                </a:lnTo>
                <a:lnTo>
                  <a:pt x="5287025" y="1359335"/>
                </a:lnTo>
                <a:lnTo>
                  <a:pt x="0" y="135933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91375" r="-100406" b="-5439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0544958" y="7482276"/>
            <a:ext cx="5331386" cy="1234177"/>
          </a:xfrm>
          <a:custGeom>
            <a:avLst/>
            <a:gdLst/>
            <a:ahLst/>
            <a:cxnLst/>
            <a:rect r="r" b="b" t="t" l="l"/>
            <a:pathLst>
              <a:path h="1234177" w="5331386">
                <a:moveTo>
                  <a:pt x="0" y="0"/>
                </a:moveTo>
                <a:lnTo>
                  <a:pt x="5331386" y="0"/>
                </a:lnTo>
                <a:lnTo>
                  <a:pt x="5331386" y="1234176"/>
                </a:lnTo>
                <a:lnTo>
                  <a:pt x="0" y="123417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97351" t="-104796" r="-1386" b="-11976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1028700" y="2830605"/>
            <a:ext cx="7828779" cy="6126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  <a:spcBef>
                <a:spcPct val="0"/>
              </a:spcBef>
            </a:pPr>
            <a:r>
              <a:rPr lang="en-US" b="true" sz="2125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1. Job Seekers (Workers)</a:t>
            </a:r>
          </a:p>
          <a:p>
            <a:pPr algn="l" marL="458879" indent="-229440" lvl="1">
              <a:lnSpc>
                <a:spcPts val="3060"/>
              </a:lnSpc>
              <a:buFont typeface="Arial"/>
              <a:buChar char="•"/>
            </a:pPr>
            <a:r>
              <a:rPr lang="en-US" sz="212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Unskilled: Laborers, helpers, domestic workers.</a:t>
            </a:r>
          </a:p>
          <a:p>
            <a:pPr algn="l" marL="458879" indent="-229440" lvl="1">
              <a:lnSpc>
                <a:spcPts val="3060"/>
              </a:lnSpc>
              <a:buFont typeface="Arial"/>
              <a:buChar char="•"/>
            </a:pPr>
            <a:r>
              <a:rPr lang="en-US" sz="212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Semi-skilled: Drivers, electricians, delivery agents.</a:t>
            </a:r>
          </a:p>
          <a:p>
            <a:pPr algn="l" marL="458879" indent="-229440" lvl="1">
              <a:lnSpc>
                <a:spcPts val="3060"/>
              </a:lnSpc>
              <a:buFont typeface="Arial"/>
              <a:buChar char="•"/>
            </a:pPr>
            <a:r>
              <a:rPr lang="en-US" sz="212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Skilled: Carpenters, masons, technicians, freelancers.</a:t>
            </a:r>
          </a:p>
          <a:p>
            <a:pPr algn="l" marL="458879" indent="-229440" lvl="1">
              <a:lnSpc>
                <a:spcPts val="3060"/>
              </a:lnSpc>
              <a:buFont typeface="Arial"/>
              <a:buChar char="•"/>
            </a:pPr>
            <a:r>
              <a:rPr lang="en-US" sz="212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Students: Looking for part-time or gig-based jobs.</a:t>
            </a:r>
          </a:p>
          <a:p>
            <a:pPr algn="l" marL="458879" indent="-229440" lvl="1">
              <a:lnSpc>
                <a:spcPts val="3060"/>
              </a:lnSpc>
              <a:buFont typeface="Arial"/>
              <a:buChar char="•"/>
            </a:pPr>
            <a:r>
              <a:rPr lang="en-US" sz="212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Women: Housewives seeking local, flexible work.</a:t>
            </a:r>
          </a:p>
          <a:p>
            <a:pPr algn="l">
              <a:lnSpc>
                <a:spcPts val="3060"/>
              </a:lnSpc>
              <a:spcBef>
                <a:spcPct val="0"/>
              </a:spcBef>
            </a:pPr>
          </a:p>
          <a:p>
            <a:pPr algn="l">
              <a:lnSpc>
                <a:spcPts val="3060"/>
              </a:lnSpc>
              <a:spcBef>
                <a:spcPct val="0"/>
              </a:spcBef>
            </a:pPr>
            <a:r>
              <a:rPr lang="en-US" b="true" sz="2125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2. Job Providers (Employers)</a:t>
            </a:r>
          </a:p>
          <a:p>
            <a:pPr algn="l" marL="458879" indent="-229440" lvl="1">
              <a:lnSpc>
                <a:spcPts val="3060"/>
              </a:lnSpc>
              <a:buFont typeface="Arial"/>
              <a:buChar char="•"/>
            </a:pPr>
            <a:r>
              <a:rPr lang="en-US" sz="212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Households: Domestic help, tutors, repair services.</a:t>
            </a:r>
          </a:p>
          <a:p>
            <a:pPr algn="l" marL="458879" indent="-229440" lvl="1">
              <a:lnSpc>
                <a:spcPts val="3060"/>
              </a:lnSpc>
              <a:buFont typeface="Arial"/>
              <a:buChar char="•"/>
            </a:pPr>
            <a:r>
              <a:rPr lang="en-US" sz="212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SMEs &amp; Startups: Temporary staff, delivery, logistics.</a:t>
            </a:r>
          </a:p>
          <a:p>
            <a:pPr algn="l" marL="458879" indent="-229440" lvl="1">
              <a:lnSpc>
                <a:spcPts val="3060"/>
              </a:lnSpc>
              <a:buFont typeface="Arial"/>
              <a:buChar char="•"/>
            </a:pPr>
            <a:r>
              <a:rPr lang="en-US" sz="212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Construction Firms: Daily wage workers, masons, cleaners.</a:t>
            </a:r>
          </a:p>
          <a:p>
            <a:pPr algn="l" marL="458879" indent="-229440" lvl="1">
              <a:lnSpc>
                <a:spcPts val="3060"/>
              </a:lnSpc>
              <a:buFont typeface="Arial"/>
              <a:buChar char="•"/>
            </a:pPr>
            <a:r>
              <a:rPr lang="en-US" sz="212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Events &amp; Hospitality: Waiters, decorators, support staff.</a:t>
            </a:r>
          </a:p>
          <a:p>
            <a:pPr algn="l" marL="458879" indent="-229440" lvl="1">
              <a:lnSpc>
                <a:spcPts val="3060"/>
              </a:lnSpc>
              <a:buFont typeface="Arial"/>
              <a:buChar char="•"/>
            </a:pPr>
            <a:r>
              <a:rPr lang="en-US" sz="212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E-commerce/Logistics: Delivery boys, warehouse workers.</a:t>
            </a:r>
          </a:p>
          <a:p>
            <a:pPr algn="l">
              <a:lnSpc>
                <a:spcPts val="3060"/>
              </a:lnSpc>
              <a:spcBef>
                <a:spcPct val="0"/>
              </a:spcBef>
            </a:pPr>
          </a:p>
          <a:p>
            <a:pPr algn="l">
              <a:lnSpc>
                <a:spcPts val="3060"/>
              </a:lnSpc>
              <a:spcBef>
                <a:spcPct val="0"/>
              </a:spcBef>
            </a:pPr>
            <a:r>
              <a:rPr lang="en-US" b="true" sz="2125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3. Institutions</a:t>
            </a:r>
          </a:p>
          <a:p>
            <a:pPr algn="l" marL="458879" indent="-229440" lvl="1">
              <a:lnSpc>
                <a:spcPts val="3060"/>
              </a:lnSpc>
              <a:buFont typeface="Arial"/>
              <a:buChar char="•"/>
            </a:pPr>
            <a:r>
              <a:rPr lang="en-US" sz="212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Government/NGOs: Employment, skilling, and livelihood programs.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DAGosxMIei4</dc:identifier>
  <dcterms:modified xsi:type="dcterms:W3CDTF">2011-08-01T06:04:30Z</dcterms:modified>
  <cp:revision>1</cp:revision>
  <dc:title>GigoIndia</dc:title>
</cp:coreProperties>
</file>